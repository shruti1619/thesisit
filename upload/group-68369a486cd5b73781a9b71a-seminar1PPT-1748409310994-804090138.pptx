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9"/>
  </p:notesMasterIdLst>
  <p:handoutMasterIdLst>
    <p:handoutMasterId r:id="rId20"/>
  </p:handoutMasterIdLst>
  <p:sldIdLst>
    <p:sldId id="292" r:id="rId5"/>
    <p:sldId id="276" r:id="rId6"/>
    <p:sldId id="297" r:id="rId7"/>
    <p:sldId id="298" r:id="rId8"/>
    <p:sldId id="296" r:id="rId9"/>
    <p:sldId id="284" r:id="rId10"/>
    <p:sldId id="285" r:id="rId11"/>
    <p:sldId id="279" r:id="rId12"/>
    <p:sldId id="299" r:id="rId13"/>
    <p:sldId id="300" r:id="rId14"/>
    <p:sldId id="301" r:id="rId15"/>
    <p:sldId id="302" r:id="rId16"/>
    <p:sldId id="294" r:id="rId17"/>
    <p:sldId id="289"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6992"/>
    <a:srgbClr val="AEC2D8"/>
    <a:srgbClr val="98432A"/>
    <a:srgbClr val="D84400"/>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5BAFD9-2656-4C08-9492-EB7A965DA361}" v="5" dt="2025-04-21T07:11:55.60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879" autoAdjust="0"/>
  </p:normalViewPr>
  <p:slideViewPr>
    <p:cSldViewPr snapToGrid="0" showGuides="1">
      <p:cViewPr varScale="1">
        <p:scale>
          <a:sx n="74" d="100"/>
          <a:sy n="74" d="100"/>
        </p:scale>
        <p:origin x="878" y="72"/>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4/21/2025</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4/21/2025</a:t>
            </a:fld>
            <a:endParaRPr lang="en-US"/>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3790198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dirty="0"/>
          </a:p>
        </p:txBody>
      </p:sp>
    </p:spTree>
    <p:extLst>
      <p:ext uri="{BB962C8B-B14F-4D97-AF65-F5344CB8AC3E}">
        <p14:creationId xmlns:p14="http://schemas.microsoft.com/office/powerpoint/2010/main" val="1041730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5470451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8</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9</a:t>
            </a:fld>
            <a:endParaRPr lang="en-US" altLang="zh-CN" dirty="0"/>
          </a:p>
        </p:txBody>
      </p:sp>
    </p:spTree>
    <p:extLst>
      <p:ext uri="{BB962C8B-B14F-4D97-AF65-F5344CB8AC3E}">
        <p14:creationId xmlns:p14="http://schemas.microsoft.com/office/powerpoint/2010/main" val="42902353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3586647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dirty="0"/>
              <a:t>Click to edit Master title style</a:t>
            </a:r>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p>
            <a:r>
              <a:rPr lang="en-US" noProof="0" dirty="0"/>
              <a:t>Click to edit Master title style</a:t>
            </a:r>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noProof="0" dirty="0"/>
              <a:t>Click to edit 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noProof="0" dirty="0"/>
              <a:t>Click to edit  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noProof="0"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noProof="0"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noProof="0"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r>
              <a:rPr lang="en-US" noProof="0" dirty="0"/>
              <a:t>Presentation Title</a:t>
            </a:r>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p>
            <a:r>
              <a:rPr lang="en-US" dirty="0"/>
              <a:t>Click to edit Master title style</a:t>
            </a:r>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r>
              <a:rPr lang="en-US" noProof="0" dirty="0"/>
              <a:t>Presentation Title</a:t>
            </a:r>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tx2"/>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bg1"/>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p>
            <a:r>
              <a:rPr lang="en-US" noProof="0" dirty="0"/>
              <a:t>Presentation Title</a:t>
            </a:r>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bg1"/>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r>
              <a:rPr lang="en-US" noProof="0" dirty="0"/>
              <a:t>Presentation Title</a:t>
            </a:r>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noProof="0" dirty="0"/>
              <a:t>Click to edit </a:t>
            </a:r>
            <a:r>
              <a:rPr lang="en-US" altLang="zh-CN" noProof="0" dirty="0"/>
              <a:t>Text </a:t>
            </a:r>
            <a:r>
              <a:rPr lang="en-US" noProof="0"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2"/>
                </a:solidFill>
                <a:latin typeface="+mn-lt"/>
              </a:defRPr>
            </a:lvl1pPr>
            <a:lvl2pPr>
              <a:defRPr sz="1000"/>
            </a:lvl2pPr>
            <a:lvl3pPr>
              <a:defRPr sz="900"/>
            </a:lvl3pPr>
            <a:lvl4pPr>
              <a:defRPr sz="800"/>
            </a:lvl4pPr>
            <a:lvl5pPr>
              <a:defRPr sz="800"/>
            </a:lvl5pPr>
          </a:lstStyle>
          <a:p>
            <a:pPr lvl="0"/>
            <a:r>
              <a:rPr lang="en-US" altLang="zh-CN" noProof="0"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dirty="0"/>
              <a:t>Presentation Title</a:t>
            </a:r>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bg1"/>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bg1"/>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bg1"/>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bg1"/>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bg1"/>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bg1"/>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bg1"/>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bg1"/>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p>
            <a:r>
              <a:rPr lang="en-US" noProof="0" dirty="0"/>
              <a:t>Presentation Title</a:t>
            </a:r>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bg1"/>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p>
            <a:r>
              <a:rPr lang="en-US" noProof="0" dirty="0"/>
              <a:t>Presentation Title</a:t>
            </a:r>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p>
            <a:r>
              <a:rPr lang="en-US" noProof="0" dirty="0"/>
              <a:t>Presentation Title</a:t>
            </a:r>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dirty="0"/>
              <a:t>Presentation Title</a:t>
            </a:r>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1">
                <a:lumMod val="75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rgbClr val="44678D"/>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p>
            <a:r>
              <a:rPr lang="en-US" noProof="0" dirty="0"/>
              <a:t>Presentation Title</a:t>
            </a:r>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noProof="0"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noProof="0"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noProof="0" dirty="0"/>
              <a:t>Click icon to add picture</a:t>
            </a:r>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p>
            <a:r>
              <a:rPr lang="en-US" noProof="0" dirty="0"/>
              <a:t>Click to edit Master title style</a:t>
            </a:r>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noProof="0"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noProof="0"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bg1"/>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bg1"/>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bg1"/>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solidFill>
              <a:schemeClr val="tx1"/>
            </a:solidFill>
          </a:ln>
        </p:spPr>
        <p:txBody>
          <a:bodyPr anchor="ctr">
            <a:noAutofit/>
          </a:bodyPr>
          <a:lstStyle>
            <a:lvl1pPr marL="0" indent="0" algn="ctr">
              <a:buNone/>
              <a:defRPr>
                <a:solidFill>
                  <a:schemeClr val="bg1"/>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p>
            <a:r>
              <a:rPr lang="en-US" noProof="0" dirty="0"/>
              <a:t>Presentation Title</a:t>
            </a:r>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bg1"/>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bg1"/>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bg1"/>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bg1"/>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r>
              <a:rPr lang="en-US" noProof="0" dirty="0"/>
              <a:t>Presentation Title</a:t>
            </a:r>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Lst>
  <p:hf sldNum="0" hd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6.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981905" y="2123491"/>
            <a:ext cx="5791107" cy="2057441"/>
          </a:xfrm>
        </p:spPr>
        <p:txBody>
          <a:bodyPr/>
          <a:lstStyle/>
          <a:p>
            <a:r>
              <a:rPr lang="en-US" sz="3600" dirty="0" err="1">
                <a:latin typeface="Cambria Math" panose="02040503050406030204" pitchFamily="18" charset="0"/>
                <a:ea typeface="Cambria Math" panose="02040503050406030204" pitchFamily="18" charset="0"/>
              </a:rPr>
              <a:t>ThesisIT</a:t>
            </a:r>
            <a:r>
              <a:rPr lang="en-US" sz="3600" dirty="0">
                <a:latin typeface="Cambria Math" panose="02040503050406030204" pitchFamily="18" charset="0"/>
                <a:ea typeface="Cambria Math" panose="02040503050406030204" pitchFamily="18" charset="0"/>
              </a:rPr>
              <a:t>: Web-Based Thesis Storage Vault</a:t>
            </a:r>
            <a:endParaRPr lang="en-US" sz="3600"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540710" y="4261795"/>
            <a:ext cx="2585618" cy="760288"/>
          </a:xfrm>
        </p:spPr>
        <p:txBody>
          <a:bodyPr/>
          <a:lstStyle/>
          <a:p>
            <a:r>
              <a:rPr lang="en-US" sz="2000" dirty="0">
                <a:latin typeface="Posterama Text Black (Headings)"/>
              </a:rPr>
              <a:t>By Team : </a:t>
            </a:r>
            <a:r>
              <a:rPr lang="en-US" sz="2000" dirty="0" err="1">
                <a:latin typeface="Posterama Text Black (Headings)"/>
              </a:rPr>
              <a:t>Creedorians</a:t>
            </a:r>
            <a:endParaRPr lang="en-US" sz="2000" dirty="0">
              <a:latin typeface="Posterama Text Black (Headings)"/>
            </a:endParaRPr>
          </a:p>
        </p:txBody>
      </p:sp>
      <p:pic>
        <p:nvPicPr>
          <p:cNvPr id="30" name="Picture placeholder 29" descr="People in an office discussing work over a laptop&#10;">
            <a:extLst>
              <a:ext uri="{FF2B5EF4-FFF2-40B4-BE49-F238E27FC236}">
                <a16:creationId xmlns:a16="http://schemas.microsoft.com/office/drawing/2014/main" id="{18C88B4D-F554-49C2-A23C-DFE94D4C835B}"/>
              </a:ext>
            </a:extLst>
          </p:cNvPr>
          <p:cNvPicPr>
            <a:picLocks noGrp="1" noChangeAspect="1"/>
          </p:cNvPicPr>
          <p:nvPr>
            <p:ph type="pic" sz="quarter" idx="47"/>
          </p:nvPr>
        </p:nvPicPr>
        <p:blipFill rotWithShape="1">
          <a:blip r:embed="rId3">
            <a:extLst>
              <a:ext uri="{28A0092B-C50C-407E-A947-70E740481C1C}">
                <a14:useLocalDpi xmlns:a14="http://schemas.microsoft.com/office/drawing/2010/main"/>
              </a:ext>
            </a:extLst>
          </a:blip>
          <a:srcRect t="2475" r="2475"/>
          <a:stretch/>
        </p:blipFill>
        <p:spPr>
          <a:xfrm>
            <a:off x="6742557" y="821836"/>
            <a:ext cx="4405503" cy="5066346"/>
          </a:xfr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2" name="TextBox 1">
            <a:extLst>
              <a:ext uri="{FF2B5EF4-FFF2-40B4-BE49-F238E27FC236}">
                <a16:creationId xmlns:a16="http://schemas.microsoft.com/office/drawing/2014/main" id="{64DDE64A-08F2-955D-31B9-8A0A517F9697}"/>
              </a:ext>
            </a:extLst>
          </p:cNvPr>
          <p:cNvSpPr txBox="1"/>
          <p:nvPr/>
        </p:nvSpPr>
        <p:spPr>
          <a:xfrm>
            <a:off x="854323" y="2042628"/>
            <a:ext cx="3026372" cy="400110"/>
          </a:xfrm>
          <a:prstGeom prst="rect">
            <a:avLst/>
          </a:prstGeom>
        </p:spPr>
        <p:txBody>
          <a:bodyPr wrap="square" rtlCol="0">
            <a:spAutoFit/>
          </a:bodyPr>
          <a:lstStyle/>
          <a:p>
            <a:pPr marL="0" indent="0" algn="ctr">
              <a:lnSpc>
                <a:spcPct val="100000"/>
              </a:lnSpc>
              <a:spcBef>
                <a:spcPts val="0"/>
              </a:spcBef>
              <a:buFontTx/>
              <a:buNone/>
            </a:pPr>
            <a:r>
              <a:rPr lang="en-IN" sz="2000" dirty="0">
                <a:solidFill>
                  <a:prstClr val="white"/>
                </a:solidFill>
                <a:latin typeface="Posterama" panose="020B0504020200020000" pitchFamily="34" charset="0"/>
                <a:ea typeface="微软雅黑"/>
                <a:cs typeface="Posterama" panose="020B0504020200020000" pitchFamily="34" charset="0"/>
              </a:rPr>
              <a:t>Progress Seminar on :</a:t>
            </a:r>
          </a:p>
        </p:txBody>
      </p:sp>
      <p:sp>
        <p:nvSpPr>
          <p:cNvPr id="3" name="TextBox 2">
            <a:extLst>
              <a:ext uri="{FF2B5EF4-FFF2-40B4-BE49-F238E27FC236}">
                <a16:creationId xmlns:a16="http://schemas.microsoft.com/office/drawing/2014/main" id="{16422395-BB53-D218-2547-243E3F089EDF}"/>
              </a:ext>
            </a:extLst>
          </p:cNvPr>
          <p:cNvSpPr txBox="1"/>
          <p:nvPr/>
        </p:nvSpPr>
        <p:spPr>
          <a:xfrm>
            <a:off x="-398114" y="6138445"/>
            <a:ext cx="3765755" cy="646331"/>
          </a:xfrm>
          <a:prstGeom prst="rect">
            <a:avLst/>
          </a:prstGeom>
        </p:spPr>
        <p:txBody>
          <a:bodyPr wrap="square" rtlCol="0">
            <a:spAutoFit/>
          </a:bodyPr>
          <a:lstStyle/>
          <a:p>
            <a:pPr marL="0" indent="0" algn="ctr">
              <a:lnSpc>
                <a:spcPct val="100000"/>
              </a:lnSpc>
              <a:spcBef>
                <a:spcPts val="0"/>
              </a:spcBef>
              <a:buFontTx/>
              <a:buNone/>
            </a:pPr>
            <a:r>
              <a:rPr lang="en-IN" sz="1800" dirty="0">
                <a:solidFill>
                  <a:prstClr val="white"/>
                </a:solidFill>
                <a:latin typeface="Posterama" panose="020B0504020200020000" pitchFamily="34" charset="0"/>
                <a:ea typeface="微软雅黑"/>
                <a:cs typeface="Posterama" panose="020B0504020200020000" pitchFamily="34" charset="0"/>
              </a:rPr>
              <a:t>Guided by_</a:t>
            </a:r>
          </a:p>
          <a:p>
            <a:pPr marL="0" indent="0" algn="ctr">
              <a:lnSpc>
                <a:spcPct val="100000"/>
              </a:lnSpc>
              <a:spcBef>
                <a:spcPts val="0"/>
              </a:spcBef>
              <a:buFontTx/>
              <a:buNone/>
            </a:pPr>
            <a:r>
              <a:rPr lang="en-IN" dirty="0">
                <a:solidFill>
                  <a:prstClr val="white"/>
                </a:solidFill>
                <a:latin typeface="Posterama" panose="020B0504020200020000" pitchFamily="34" charset="0"/>
                <a:ea typeface="微软雅黑"/>
                <a:cs typeface="Posterama" panose="020B0504020200020000" pitchFamily="34" charset="0"/>
              </a:rPr>
              <a:t>Prof. Rekha </a:t>
            </a:r>
            <a:r>
              <a:rPr lang="en-IN" dirty="0" err="1">
                <a:solidFill>
                  <a:prstClr val="white"/>
                </a:solidFill>
                <a:latin typeface="Posterama" panose="020B0504020200020000" pitchFamily="34" charset="0"/>
                <a:ea typeface="微软雅黑"/>
                <a:cs typeface="Posterama" panose="020B0504020200020000" pitchFamily="34" charset="0"/>
              </a:rPr>
              <a:t>Sahare</a:t>
            </a:r>
            <a:r>
              <a:rPr lang="en-IN" dirty="0">
                <a:solidFill>
                  <a:prstClr val="white"/>
                </a:solidFill>
                <a:latin typeface="Posterama" panose="020B0504020200020000" pitchFamily="34" charset="0"/>
                <a:ea typeface="微软雅黑"/>
                <a:cs typeface="Posterama" panose="020B0504020200020000" pitchFamily="34" charset="0"/>
              </a:rPr>
              <a:t> Mam</a:t>
            </a:r>
            <a:endParaRPr lang="en-IN" sz="1800" dirty="0">
              <a:solidFill>
                <a:prstClr val="white"/>
              </a:solidFill>
              <a:latin typeface="Posterama" panose="020B0504020200020000" pitchFamily="34" charset="0"/>
              <a:ea typeface="微软雅黑"/>
              <a:cs typeface="Posterama" panose="020B0504020200020000" pitchFamily="34" charset="0"/>
            </a:endParaRPr>
          </a:p>
        </p:txBody>
      </p:sp>
      <p:sp>
        <p:nvSpPr>
          <p:cNvPr id="5" name="TextBox 4">
            <a:extLst>
              <a:ext uri="{FF2B5EF4-FFF2-40B4-BE49-F238E27FC236}">
                <a16:creationId xmlns:a16="http://schemas.microsoft.com/office/drawing/2014/main" id="{2FED6F15-C4D9-7539-648C-199DAA603B0C}"/>
              </a:ext>
            </a:extLst>
          </p:cNvPr>
          <p:cNvSpPr txBox="1"/>
          <p:nvPr/>
        </p:nvSpPr>
        <p:spPr>
          <a:xfrm>
            <a:off x="2937799" y="263653"/>
            <a:ext cx="6530665" cy="1200329"/>
          </a:xfrm>
          <a:prstGeom prst="rect">
            <a:avLst/>
          </a:prstGeom>
          <a:noFill/>
        </p:spPr>
        <p:txBody>
          <a:bodyPr wrap="square">
            <a:spAutoFit/>
          </a:bodyPr>
          <a:lstStyle/>
          <a:p>
            <a:r>
              <a:rPr lang="en-US" sz="2400" dirty="0">
                <a:solidFill>
                  <a:schemeClr val="bg1"/>
                </a:solidFill>
                <a:latin typeface="Posterama Text Black (Headings)"/>
              </a:rPr>
              <a:t>Government College Of Engineering, Chandrapur</a:t>
            </a:r>
          </a:p>
          <a:p>
            <a:r>
              <a:rPr lang="en-US" sz="2400" dirty="0">
                <a:solidFill>
                  <a:schemeClr val="bg1"/>
                </a:solidFill>
                <a:latin typeface="Posterama Text Black (Headings)"/>
              </a:rPr>
              <a:t>                              CSE Department</a:t>
            </a:r>
          </a:p>
          <a:p>
            <a:endParaRPr lang="en-US" sz="2400" dirty="0">
              <a:solidFill>
                <a:schemeClr val="bg1"/>
              </a:solidFill>
              <a:latin typeface="Posterama Text Black (Headings)"/>
            </a:endParaRPr>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716126" y="646174"/>
            <a:ext cx="5117162" cy="1325563"/>
          </a:xfrm>
        </p:spPr>
        <p:txBody>
          <a:bodyPr/>
          <a:lstStyle/>
          <a:p>
            <a:r>
              <a:rPr lang="en-US" sz="3600" dirty="0">
                <a:latin typeface="Cascadia Mono SemiBold" panose="020B0609020000020004" pitchFamily="49" charset="0"/>
                <a:ea typeface="Cascadia Mono SemiBold" panose="020B0609020000020004" pitchFamily="49" charset="0"/>
                <a:cs typeface="Cascadia Mono SemiBold" panose="020B0609020000020004" pitchFamily="49" charset="0"/>
              </a:rPr>
              <a:t>Agenda</a:t>
            </a:r>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557362" y="1835928"/>
            <a:ext cx="4260180" cy="1294530"/>
          </a:xfrm>
        </p:spPr>
        <p:txBody>
          <a:bodyPr/>
          <a:lstStyle/>
          <a:p>
            <a:pPr marL="457200" indent="-4572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Problem Statement</a:t>
            </a:r>
          </a:p>
          <a:p>
            <a:pPr marL="457200" indent="-4572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Abstract</a:t>
            </a:r>
          </a:p>
          <a:p>
            <a:pPr marL="457200" indent="-4572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Objective</a:t>
            </a:r>
          </a:p>
          <a:p>
            <a:pPr marL="457200" indent="-4572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Plan Of Action</a:t>
            </a:r>
          </a:p>
          <a:p>
            <a:pPr marL="457200" indent="-4572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Software Requirement</a:t>
            </a:r>
          </a:p>
          <a:p>
            <a:pPr marL="457200" indent="-4572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Literature survey</a:t>
            </a:r>
          </a:p>
          <a:p>
            <a:pPr marL="457200" indent="-4572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Project Progress</a:t>
            </a:r>
          </a:p>
          <a:p>
            <a:pPr marL="457200" indent="-4572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Conclusion</a:t>
            </a:r>
          </a:p>
          <a:p>
            <a:endParaRPr lang="en-US" sz="2400" dirty="0">
              <a:latin typeface="Cambria Math" panose="02040503050406030204" pitchFamily="18" charset="0"/>
              <a:ea typeface="Cambria Math" panose="02040503050406030204" pitchFamily="18" charset="0"/>
            </a:endParaRPr>
          </a:p>
        </p:txBody>
      </p:sp>
      <p:sp>
        <p:nvSpPr>
          <p:cNvPr id="18" name="Footer Placeholder 17">
            <a:extLst>
              <a:ext uri="{FF2B5EF4-FFF2-40B4-BE49-F238E27FC236}">
                <a16:creationId xmlns:a16="http://schemas.microsoft.com/office/drawing/2014/main" id="{59AC624B-4FD9-E308-F182-08902D49A82B}"/>
              </a:ext>
            </a:extLst>
          </p:cNvPr>
          <p:cNvSpPr>
            <a:spLocks noGrp="1"/>
          </p:cNvSpPr>
          <p:nvPr>
            <p:ph type="ftr" sz="quarter" idx="52"/>
          </p:nvPr>
        </p:nvSpPr>
        <p:spPr>
          <a:xfrm>
            <a:off x="484632" y="6217920"/>
            <a:ext cx="4114800" cy="365125"/>
          </a:xfrm>
        </p:spPr>
        <p:txBody>
          <a:bodyPr/>
          <a:lstStyle/>
          <a:p>
            <a:r>
              <a:rPr lang="en-US" dirty="0" err="1"/>
              <a:t>ThesisIT</a:t>
            </a:r>
            <a:endParaRPr lang="en-US" dirty="0"/>
          </a:p>
        </p:txBody>
      </p:sp>
      <p:pic>
        <p:nvPicPr>
          <p:cNvPr id="12" name="Picture Placeholder 11" descr="People around a table on their laptops">
            <a:extLst>
              <a:ext uri="{FF2B5EF4-FFF2-40B4-BE49-F238E27FC236}">
                <a16:creationId xmlns:a16="http://schemas.microsoft.com/office/drawing/2014/main" id="{8C4B5C6A-45B4-1976-622A-4CEB4E3211BC}"/>
              </a:ext>
            </a:extLst>
          </p:cNvPr>
          <p:cNvPicPr>
            <a:picLocks noGrp="1" noChangeAspect="1"/>
          </p:cNvPicPr>
          <p:nvPr>
            <p:ph type="pic" sz="quarter" idx="51"/>
          </p:nvPr>
        </p:nvPicPr>
        <p:blipFill rotWithShape="1">
          <a:blip r:embed="rId3" cstate="print">
            <a:extLst>
              <a:ext uri="{28A0092B-C50C-407E-A947-70E740481C1C}">
                <a14:useLocalDpi xmlns:a14="http://schemas.microsoft.com/office/drawing/2010/main"/>
              </a:ext>
            </a:extLst>
          </a:blip>
          <a:srcRect l="26" r="26"/>
          <a:stretch/>
        </p:blipFill>
        <p:spPr>
          <a:xfrm>
            <a:off x="5745001" y="0"/>
            <a:ext cx="6446999" cy="6858000"/>
          </a:xfrm>
        </p:spPr>
      </p:pic>
      <p:sp>
        <p:nvSpPr>
          <p:cNvPr id="6" name="Freeform: Shape 5">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p:nvSpPr>
        <p:spPr>
          <a:xfrm>
            <a:off x="4584821" y="311581"/>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altLang="zh-CN" sz="1200" u="none" strike="noStrike" kern="1200" cap="none" spc="0" normalizeH="0" baseline="0" dirty="0">
              <a:ln>
                <a:noFill/>
              </a:ln>
              <a:solidFill>
                <a:schemeClr val="bg1"/>
              </a:solidFill>
              <a:effectLst/>
              <a:uLnTx/>
              <a:uFillTx/>
            </a:endParaRPr>
          </a:p>
        </p:txBody>
      </p:sp>
    </p:spTree>
    <p:extLst>
      <p:ext uri="{BB962C8B-B14F-4D97-AF65-F5344CB8AC3E}">
        <p14:creationId xmlns:p14="http://schemas.microsoft.com/office/powerpoint/2010/main" val="77554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981E71-8FC1-3EE7-5617-82EE76F620D2}"/>
              </a:ext>
            </a:extLst>
          </p:cNvPr>
          <p:cNvSpPr>
            <a:spLocks noGrp="1"/>
          </p:cNvSpPr>
          <p:nvPr>
            <p:ph type="body" sz="quarter" idx="28"/>
          </p:nvPr>
        </p:nvSpPr>
        <p:spPr>
          <a:xfrm>
            <a:off x="1154033" y="1759353"/>
            <a:ext cx="10247029" cy="1759352"/>
          </a:xfrm>
        </p:spPr>
        <p:txBody>
          <a:bodyPr/>
          <a:lstStyle/>
          <a:p>
            <a:r>
              <a:rPr kumimoji="0" lang="en-US" altLang="en-US" sz="2400" b="0" i="0" u="none" strike="noStrike" cap="none" normalizeH="0" baseline="0" dirty="0">
                <a:ln>
                  <a:noFill/>
                </a:ln>
                <a:effectLst/>
                <a:latin typeface="Cambria Math" panose="02040503050406030204" pitchFamily="18" charset="0"/>
                <a:ea typeface="Cambria Math" panose="02040503050406030204" pitchFamily="18" charset="0"/>
              </a:rPr>
              <a:t>Managing final year project records is time-consuming, inefficient, and prone to loss or damage, whether in physical or digital form. The lack of a centralized repository limits accessibility and prevents junior students from building on previous work. Hard copies further complicate sharing and collaboration among students and faculty. To address these issues, we</a:t>
            </a:r>
            <a:r>
              <a:rPr lang="en-US" altLang="en-US" sz="2400" dirty="0">
                <a:latin typeface="Cambria Math" panose="02040503050406030204" pitchFamily="18" charset="0"/>
                <a:ea typeface="Cambria Math" panose="02040503050406030204" pitchFamily="18" charset="0"/>
              </a:rPr>
              <a:t> are</a:t>
            </a:r>
            <a:r>
              <a:rPr kumimoji="0" lang="en-US" altLang="en-US" sz="2400" b="0" i="0" u="none" strike="noStrike" cap="none" normalizeH="0" baseline="0" dirty="0">
                <a:ln>
                  <a:noFill/>
                </a:ln>
                <a:effectLst/>
                <a:latin typeface="Cambria Math" panose="02040503050406030204" pitchFamily="18" charset="0"/>
                <a:ea typeface="Cambria Math" panose="02040503050406030204" pitchFamily="18" charset="0"/>
              </a:rPr>
              <a:t> introducing the </a:t>
            </a:r>
            <a:r>
              <a:rPr lang="en-US" sz="2400" dirty="0" err="1">
                <a:latin typeface="Cambria Math" panose="02040503050406030204" pitchFamily="18" charset="0"/>
                <a:ea typeface="Cambria Math" panose="02040503050406030204" pitchFamily="18" charset="0"/>
              </a:rPr>
              <a:t>ThesisIT</a:t>
            </a:r>
            <a:r>
              <a:rPr lang="en-US" sz="2400" dirty="0">
                <a:latin typeface="Cambria Math" panose="02040503050406030204" pitchFamily="18" charset="0"/>
                <a:ea typeface="Cambria Math" panose="02040503050406030204" pitchFamily="18" charset="0"/>
              </a:rPr>
              <a:t>: Web-Based Thesis Storage Vault</a:t>
            </a:r>
            <a:r>
              <a:rPr kumimoji="0" lang="en-US" altLang="en-US" sz="2400" b="0" i="0" u="none" strike="noStrike" cap="none" normalizeH="0" baseline="0" dirty="0">
                <a:ln>
                  <a:noFill/>
                </a:ln>
                <a:effectLst/>
                <a:latin typeface="Cambria Math" panose="02040503050406030204" pitchFamily="18" charset="0"/>
                <a:ea typeface="Cambria Math" panose="02040503050406030204" pitchFamily="18" charset="0"/>
              </a:rPr>
              <a:t>, a responsive web </a:t>
            </a:r>
            <a:r>
              <a:rPr kumimoji="0" lang="en-US" altLang="en-US" sz="2400" b="0" i="0" u="none" strike="noStrike" cap="none" normalizeH="0" baseline="0">
                <a:ln>
                  <a:noFill/>
                </a:ln>
                <a:effectLst/>
                <a:latin typeface="Cambria Math" panose="02040503050406030204" pitchFamily="18" charset="0"/>
                <a:ea typeface="Cambria Math" panose="02040503050406030204" pitchFamily="18" charset="0"/>
              </a:rPr>
              <a:t>application , </a:t>
            </a:r>
            <a:r>
              <a:rPr kumimoji="0" lang="en-US" altLang="en-US" sz="2400" b="0" i="0" u="none" strike="noStrike" cap="none" normalizeH="0" baseline="0" dirty="0">
                <a:ln>
                  <a:noFill/>
                </a:ln>
                <a:effectLst/>
                <a:latin typeface="Cambria Math" panose="02040503050406030204" pitchFamily="18" charset="0"/>
                <a:ea typeface="Cambria Math" panose="02040503050406030204" pitchFamily="18" charset="0"/>
              </a:rPr>
              <a:t>which centralizes project submissions and provides faculty easy access for evaluation.</a:t>
            </a:r>
            <a:endParaRPr lang="en-IN" sz="2400" dirty="0">
              <a:latin typeface="Cambria Math" panose="02040503050406030204" pitchFamily="18" charset="0"/>
              <a:ea typeface="Cambria Math" panose="02040503050406030204" pitchFamily="18" charset="0"/>
            </a:endParaRPr>
          </a:p>
        </p:txBody>
      </p:sp>
      <p:sp>
        <p:nvSpPr>
          <p:cNvPr id="4" name="Title 3">
            <a:extLst>
              <a:ext uri="{FF2B5EF4-FFF2-40B4-BE49-F238E27FC236}">
                <a16:creationId xmlns:a16="http://schemas.microsoft.com/office/drawing/2014/main" id="{209311A6-4A8B-97BD-1541-D8AAA867F4D8}"/>
              </a:ext>
            </a:extLst>
          </p:cNvPr>
          <p:cNvSpPr>
            <a:spLocks noGrp="1"/>
          </p:cNvSpPr>
          <p:nvPr>
            <p:ph type="title"/>
          </p:nvPr>
        </p:nvSpPr>
        <p:spPr>
          <a:xfrm>
            <a:off x="2249720" y="560439"/>
            <a:ext cx="6215854" cy="1325563"/>
          </a:xfrm>
        </p:spPr>
        <p:txBody>
          <a:bodyPr/>
          <a:lstStyle/>
          <a:p>
            <a:r>
              <a:rPr lang="en-US" sz="3200" dirty="0">
                <a:latin typeface="Posterama Text Black (Headings)"/>
                <a:ea typeface="Cambria Math" panose="02040503050406030204" pitchFamily="18" charset="0"/>
              </a:rPr>
              <a:t>                         Problem Statement</a:t>
            </a:r>
            <a:br>
              <a:rPr lang="en-US" sz="3200" dirty="0">
                <a:latin typeface="Posterama Text Black (Headings)"/>
                <a:ea typeface="Cambria Math" panose="02040503050406030204" pitchFamily="18" charset="0"/>
              </a:rPr>
            </a:br>
            <a:endParaRPr lang="en-IN" sz="3200" dirty="0">
              <a:latin typeface="Posterama Text Black (Headings)"/>
            </a:endParaRPr>
          </a:p>
        </p:txBody>
      </p:sp>
      <p:sp>
        <p:nvSpPr>
          <p:cNvPr id="5" name="Footer Placeholder 4">
            <a:extLst>
              <a:ext uri="{FF2B5EF4-FFF2-40B4-BE49-F238E27FC236}">
                <a16:creationId xmlns:a16="http://schemas.microsoft.com/office/drawing/2014/main" id="{9FB6A9BA-3E33-E84A-FB81-8DF7202CF966}"/>
              </a:ext>
            </a:extLst>
          </p:cNvPr>
          <p:cNvSpPr>
            <a:spLocks noGrp="1"/>
          </p:cNvSpPr>
          <p:nvPr>
            <p:ph type="ftr" sz="quarter" idx="49"/>
          </p:nvPr>
        </p:nvSpPr>
        <p:spPr/>
        <p:txBody>
          <a:bodyPr/>
          <a:lstStyle/>
          <a:p>
            <a:r>
              <a:rPr lang="en-US" dirty="0" err="1"/>
              <a:t>ThesisIT</a:t>
            </a:r>
            <a:endParaRPr lang="en-US" noProof="0" dirty="0"/>
          </a:p>
        </p:txBody>
      </p:sp>
    </p:spTree>
    <p:extLst>
      <p:ext uri="{BB962C8B-B14F-4D97-AF65-F5344CB8AC3E}">
        <p14:creationId xmlns:p14="http://schemas.microsoft.com/office/powerpoint/2010/main" val="3751254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981E71-8FC1-3EE7-5617-82EE76F620D2}"/>
              </a:ext>
            </a:extLst>
          </p:cNvPr>
          <p:cNvSpPr>
            <a:spLocks noGrp="1"/>
          </p:cNvSpPr>
          <p:nvPr>
            <p:ph type="body" sz="quarter" idx="28"/>
          </p:nvPr>
        </p:nvSpPr>
        <p:spPr>
          <a:xfrm>
            <a:off x="1438513" y="1669648"/>
            <a:ext cx="10247029" cy="1759352"/>
          </a:xfrm>
        </p:spPr>
        <p:txBody>
          <a:bodyPr/>
          <a:lstStyle/>
          <a:p>
            <a:r>
              <a:rPr lang="en-US" sz="2400" dirty="0" err="1">
                <a:latin typeface="Cambria Math" panose="02040503050406030204" pitchFamily="18" charset="0"/>
                <a:ea typeface="Cambria Math" panose="02040503050406030204" pitchFamily="18" charset="0"/>
              </a:rPr>
              <a:t>ThesisIT</a:t>
            </a:r>
            <a:r>
              <a:rPr lang="en-US" sz="2400" dirty="0">
                <a:latin typeface="Cambria Math" panose="02040503050406030204" pitchFamily="18" charset="0"/>
                <a:ea typeface="Cambria Math" panose="02040503050406030204" pitchFamily="18" charset="0"/>
              </a:rPr>
              <a:t> is a web-based platform designed to streamline the management of final year project records in </a:t>
            </a:r>
            <a:r>
              <a:rPr lang="en-US" sz="2400">
                <a:latin typeface="Cambria Math" panose="02040503050406030204" pitchFamily="18" charset="0"/>
                <a:ea typeface="Cambria Math" panose="02040503050406030204" pitchFamily="18" charset="0"/>
              </a:rPr>
              <a:t>our department. </a:t>
            </a:r>
            <a:r>
              <a:rPr lang="en-US" sz="2400" dirty="0" err="1">
                <a:latin typeface="Cambria Math" panose="02040503050406030204" pitchFamily="18" charset="0"/>
                <a:ea typeface="Cambria Math" panose="02040503050406030204" pitchFamily="18" charset="0"/>
              </a:rPr>
              <a:t>ThesisIT</a:t>
            </a:r>
            <a:r>
              <a:rPr lang="en-US" sz="2400" dirty="0">
                <a:latin typeface="Cambria Math" panose="02040503050406030204" pitchFamily="18" charset="0"/>
                <a:ea typeface="Cambria Math" panose="02040503050406030204" pitchFamily="18" charset="0"/>
              </a:rPr>
              <a:t> centralizes the submission, storage, and evaluation of student projects, addressing inefficiencies in traditional methods that are prone to data loss and limited accessibility. The platform fosters collaboration by allowing students to access and build upon previous projects, while providing faculty with an easy-to-use interface for project evaluation. </a:t>
            </a:r>
            <a:r>
              <a:rPr lang="en-US" sz="2400" dirty="0" err="1">
                <a:latin typeface="Cambria Math" panose="02040503050406030204" pitchFamily="18" charset="0"/>
                <a:ea typeface="Cambria Math" panose="02040503050406030204" pitchFamily="18" charset="0"/>
              </a:rPr>
              <a:t>ThesisIT</a:t>
            </a:r>
            <a:r>
              <a:rPr lang="en-US" sz="2400" dirty="0">
                <a:latin typeface="Cambria Math" panose="02040503050406030204" pitchFamily="18" charset="0"/>
                <a:ea typeface="Cambria Math" panose="02040503050406030204" pitchFamily="18" charset="0"/>
              </a:rPr>
              <a:t> enhances knowledge sharing, improves project management, and creates a scalable solution for long-term academic use.</a:t>
            </a:r>
            <a:endParaRPr lang="en-IN" sz="2400" dirty="0">
              <a:latin typeface="Cambria Math" panose="02040503050406030204" pitchFamily="18" charset="0"/>
              <a:ea typeface="Cambria Math" panose="02040503050406030204" pitchFamily="18" charset="0"/>
            </a:endParaRPr>
          </a:p>
        </p:txBody>
      </p:sp>
      <p:sp>
        <p:nvSpPr>
          <p:cNvPr id="4" name="Title 3">
            <a:extLst>
              <a:ext uri="{FF2B5EF4-FFF2-40B4-BE49-F238E27FC236}">
                <a16:creationId xmlns:a16="http://schemas.microsoft.com/office/drawing/2014/main" id="{209311A6-4A8B-97BD-1541-D8AAA867F4D8}"/>
              </a:ext>
            </a:extLst>
          </p:cNvPr>
          <p:cNvSpPr>
            <a:spLocks noGrp="1"/>
          </p:cNvSpPr>
          <p:nvPr>
            <p:ph type="title"/>
          </p:nvPr>
        </p:nvSpPr>
        <p:spPr>
          <a:xfrm>
            <a:off x="5358774" y="477006"/>
            <a:ext cx="1817225" cy="717630"/>
          </a:xfrm>
        </p:spPr>
        <p:txBody>
          <a:bodyPr/>
          <a:lstStyle/>
          <a:p>
            <a:r>
              <a:rPr lang="en-US" sz="3600" dirty="0"/>
              <a:t>Abstract</a:t>
            </a:r>
            <a:endParaRPr lang="en-IN" sz="3600" dirty="0"/>
          </a:p>
        </p:txBody>
      </p:sp>
      <p:sp>
        <p:nvSpPr>
          <p:cNvPr id="5" name="Footer Placeholder 4">
            <a:extLst>
              <a:ext uri="{FF2B5EF4-FFF2-40B4-BE49-F238E27FC236}">
                <a16:creationId xmlns:a16="http://schemas.microsoft.com/office/drawing/2014/main" id="{9FB6A9BA-3E33-E84A-FB81-8DF7202CF966}"/>
              </a:ext>
            </a:extLst>
          </p:cNvPr>
          <p:cNvSpPr>
            <a:spLocks noGrp="1"/>
          </p:cNvSpPr>
          <p:nvPr>
            <p:ph type="ftr" sz="quarter" idx="49"/>
          </p:nvPr>
        </p:nvSpPr>
        <p:spPr/>
        <p:txBody>
          <a:bodyPr/>
          <a:lstStyle/>
          <a:p>
            <a:r>
              <a:rPr lang="en-US" dirty="0" err="1"/>
              <a:t>ThesisIT</a:t>
            </a:r>
            <a:endParaRPr lang="en-US" noProof="0" dirty="0"/>
          </a:p>
        </p:txBody>
      </p:sp>
    </p:spTree>
    <p:extLst>
      <p:ext uri="{BB962C8B-B14F-4D97-AF65-F5344CB8AC3E}">
        <p14:creationId xmlns:p14="http://schemas.microsoft.com/office/powerpoint/2010/main" val="478588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Title 72">
            <a:extLst>
              <a:ext uri="{FF2B5EF4-FFF2-40B4-BE49-F238E27FC236}">
                <a16:creationId xmlns:a16="http://schemas.microsoft.com/office/drawing/2014/main" id="{48B2F6FE-2CF0-7F44-B7C7-65EE2B418183}"/>
              </a:ext>
            </a:extLst>
          </p:cNvPr>
          <p:cNvSpPr>
            <a:spLocks noGrp="1"/>
          </p:cNvSpPr>
          <p:nvPr>
            <p:ph type="title"/>
          </p:nvPr>
        </p:nvSpPr>
        <p:spPr/>
        <p:txBody>
          <a:bodyPr/>
          <a:lstStyle/>
          <a:p>
            <a:r>
              <a:rPr lang="en-US" sz="3600" dirty="0"/>
              <a:t>Objectives</a:t>
            </a:r>
          </a:p>
        </p:txBody>
      </p:sp>
      <p:pic>
        <p:nvPicPr>
          <p:cNvPr id="55" name="Picture Placeholder 7" descr="Businesswoman reviewing sticky notes on a wall">
            <a:extLst>
              <a:ext uri="{FF2B5EF4-FFF2-40B4-BE49-F238E27FC236}">
                <a16:creationId xmlns:a16="http://schemas.microsoft.com/office/drawing/2014/main" id="{9A8C3D8A-AD4E-BD2D-C807-79872E9076A5}"/>
              </a:ext>
            </a:extLst>
          </p:cNvPr>
          <p:cNvPicPr>
            <a:picLocks noGrp="1" noChangeAspect="1"/>
          </p:cNvPicPr>
          <p:nvPr>
            <p:ph type="pic" sz="quarter" idx="57"/>
          </p:nvPr>
        </p:nvPicPr>
        <p:blipFill>
          <a:blip r:embed="rId3" cstate="print">
            <a:extLst>
              <a:ext uri="{28A0092B-C50C-407E-A947-70E740481C1C}">
                <a14:useLocalDpi xmlns:a14="http://schemas.microsoft.com/office/drawing/2010/main"/>
              </a:ext>
            </a:extLst>
          </a:blip>
          <a:srcRect t="38" b="38"/>
          <a:stretch/>
        </p:blipFill>
        <p:spPr>
          <a:xfrm>
            <a:off x="983282" y="2073439"/>
            <a:ext cx="1621032" cy="1841551"/>
          </a:xfrm>
        </p:spPr>
      </p:pic>
      <p:sp>
        <p:nvSpPr>
          <p:cNvPr id="49" name="Text Placeholder 48">
            <a:extLst>
              <a:ext uri="{FF2B5EF4-FFF2-40B4-BE49-F238E27FC236}">
                <a16:creationId xmlns:a16="http://schemas.microsoft.com/office/drawing/2014/main" id="{1314DF81-1F76-3EC4-20FE-94867A9F0F85}"/>
              </a:ext>
            </a:extLst>
          </p:cNvPr>
          <p:cNvSpPr>
            <a:spLocks noGrp="1"/>
          </p:cNvSpPr>
          <p:nvPr>
            <p:ph type="body" sz="quarter" idx="27"/>
          </p:nvPr>
        </p:nvSpPr>
        <p:spPr>
          <a:xfrm>
            <a:off x="988705" y="4416563"/>
            <a:ext cx="1877575" cy="506399"/>
          </a:xfrm>
        </p:spPr>
        <p:txBody>
          <a:bodyPr/>
          <a:lstStyle/>
          <a:p>
            <a:r>
              <a:rPr lang="en-US" sz="2000" b="1" dirty="0">
                <a:latin typeface="Cambria Math" panose="02040503050406030204" pitchFamily="18" charset="0"/>
                <a:ea typeface="Cambria Math" panose="02040503050406030204" pitchFamily="18" charset="0"/>
              </a:rPr>
              <a:t>Design and Develop User Interface</a:t>
            </a:r>
            <a:endParaRPr lang="en-US" sz="2000" dirty="0">
              <a:latin typeface="Cambria Math" panose="02040503050406030204" pitchFamily="18" charset="0"/>
              <a:ea typeface="Cambria Math" panose="02040503050406030204" pitchFamily="18" charset="0"/>
            </a:endParaRPr>
          </a:p>
        </p:txBody>
      </p:sp>
      <p:pic>
        <p:nvPicPr>
          <p:cNvPr id="34" name="Picture Placeholder 9" descr="People working in office">
            <a:extLst>
              <a:ext uri="{FF2B5EF4-FFF2-40B4-BE49-F238E27FC236}">
                <a16:creationId xmlns:a16="http://schemas.microsoft.com/office/drawing/2014/main" id="{E83EA030-5740-6F6C-2CD2-743E3AFE8871}"/>
              </a:ext>
            </a:extLst>
          </p:cNvPr>
          <p:cNvPicPr>
            <a:picLocks noGrp="1" noChangeAspect="1"/>
          </p:cNvPicPr>
          <p:nvPr>
            <p:ph type="pic" sz="quarter" idx="58"/>
          </p:nvPr>
        </p:nvPicPr>
        <p:blipFill>
          <a:blip r:embed="rId4" cstate="print">
            <a:extLst>
              <a:ext uri="{28A0092B-C50C-407E-A947-70E740481C1C}">
                <a14:useLocalDpi xmlns:a14="http://schemas.microsoft.com/office/drawing/2010/main"/>
              </a:ext>
            </a:extLst>
          </a:blip>
          <a:srcRect l="11" r="11"/>
          <a:stretch/>
        </p:blipFill>
        <p:spPr>
          <a:xfrm>
            <a:off x="3109346" y="2073439"/>
            <a:ext cx="1621032" cy="1841551"/>
          </a:xfrm>
          <a:solidFill>
            <a:schemeClr val="bg1">
              <a:lumMod val="95000"/>
            </a:schemeClr>
          </a:solidFill>
        </p:spPr>
      </p:pic>
      <p:sp>
        <p:nvSpPr>
          <p:cNvPr id="4" name="Text Placeholder 3">
            <a:extLst>
              <a:ext uri="{FF2B5EF4-FFF2-40B4-BE49-F238E27FC236}">
                <a16:creationId xmlns:a16="http://schemas.microsoft.com/office/drawing/2014/main" id="{7FE65A67-333E-9FDE-3F4D-6F1490CD05E1}"/>
              </a:ext>
            </a:extLst>
          </p:cNvPr>
          <p:cNvSpPr>
            <a:spLocks noGrp="1"/>
          </p:cNvSpPr>
          <p:nvPr>
            <p:ph type="body" sz="quarter" idx="49"/>
          </p:nvPr>
        </p:nvSpPr>
        <p:spPr>
          <a:xfrm>
            <a:off x="2888314" y="4416565"/>
            <a:ext cx="1877575" cy="506399"/>
          </a:xfrm>
        </p:spPr>
        <p:txBody>
          <a:bodyPr/>
          <a:lstStyle/>
          <a:p>
            <a:r>
              <a:rPr lang="en-IN" sz="2000" b="1" dirty="0">
                <a:latin typeface="Cambria Math" panose="02040503050406030204" pitchFamily="18" charset="0"/>
                <a:ea typeface="Cambria Math" panose="02040503050406030204" pitchFamily="18" charset="0"/>
              </a:rPr>
              <a:t>Implement User Authentication and Role Management</a:t>
            </a:r>
            <a:endParaRPr lang="en-US" sz="2000" dirty="0">
              <a:latin typeface="Cambria Math" panose="02040503050406030204" pitchFamily="18" charset="0"/>
              <a:ea typeface="Cambria Math" panose="02040503050406030204" pitchFamily="18" charset="0"/>
            </a:endParaRPr>
          </a:p>
        </p:txBody>
      </p:sp>
      <p:pic>
        <p:nvPicPr>
          <p:cNvPr id="33" name="Picture Placeholder  11" descr="Layout of website design sketches on white paper">
            <a:extLst>
              <a:ext uri="{FF2B5EF4-FFF2-40B4-BE49-F238E27FC236}">
                <a16:creationId xmlns:a16="http://schemas.microsoft.com/office/drawing/2014/main" id="{DF0C753D-68D4-E5C0-7B57-6CDF7C66BAFB}"/>
              </a:ext>
            </a:extLst>
          </p:cNvPr>
          <p:cNvPicPr>
            <a:picLocks noGrp="1" noChangeAspect="1"/>
          </p:cNvPicPr>
          <p:nvPr>
            <p:ph type="pic" sz="quarter" idx="59"/>
          </p:nvPr>
        </p:nvPicPr>
        <p:blipFill>
          <a:blip r:embed="rId5" cstate="print">
            <a:extLst>
              <a:ext uri="{28A0092B-C50C-407E-A947-70E740481C1C}">
                <a14:useLocalDpi xmlns:a14="http://schemas.microsoft.com/office/drawing/2010/main"/>
              </a:ext>
            </a:extLst>
          </a:blip>
          <a:srcRect l="11" r="11"/>
          <a:stretch/>
        </p:blipFill>
        <p:spPr>
          <a:xfrm>
            <a:off x="5235410" y="2073439"/>
            <a:ext cx="1621032" cy="1841551"/>
          </a:xfrm>
        </p:spPr>
      </p:pic>
      <p:sp>
        <p:nvSpPr>
          <p:cNvPr id="6" name="Text Placeholder 5">
            <a:extLst>
              <a:ext uri="{FF2B5EF4-FFF2-40B4-BE49-F238E27FC236}">
                <a16:creationId xmlns:a16="http://schemas.microsoft.com/office/drawing/2014/main" id="{FA441FB1-32FD-977D-CFCB-8217F9BBCF47}"/>
              </a:ext>
            </a:extLst>
          </p:cNvPr>
          <p:cNvSpPr>
            <a:spLocks noGrp="1"/>
          </p:cNvSpPr>
          <p:nvPr>
            <p:ph type="body" sz="quarter" idx="51"/>
          </p:nvPr>
        </p:nvSpPr>
        <p:spPr>
          <a:xfrm>
            <a:off x="7354513" y="4416565"/>
            <a:ext cx="1877575" cy="506399"/>
          </a:xfrm>
        </p:spPr>
        <p:txBody>
          <a:bodyPr/>
          <a:lstStyle/>
          <a:p>
            <a:r>
              <a:rPr lang="en-US" sz="2000" b="1" dirty="0">
                <a:latin typeface="Cambria Math" panose="02040503050406030204" pitchFamily="18" charset="0"/>
                <a:ea typeface="Cambria Math" panose="02040503050406030204" pitchFamily="18" charset="0"/>
              </a:rPr>
              <a:t>Develop File Storage and Management System</a:t>
            </a:r>
            <a:endParaRPr lang="en-US" sz="2000" dirty="0">
              <a:latin typeface="Cambria Math" panose="02040503050406030204" pitchFamily="18" charset="0"/>
              <a:ea typeface="Cambria Math" panose="02040503050406030204" pitchFamily="18" charset="0"/>
            </a:endParaRPr>
          </a:p>
        </p:txBody>
      </p:sp>
      <p:pic>
        <p:nvPicPr>
          <p:cNvPr id="32" name="Picture Placeholder 13" descr="Empty office chairs">
            <a:extLst>
              <a:ext uri="{FF2B5EF4-FFF2-40B4-BE49-F238E27FC236}">
                <a16:creationId xmlns:a16="http://schemas.microsoft.com/office/drawing/2014/main" id="{C5A00248-FB97-E78F-F875-284202D71324}"/>
              </a:ext>
            </a:extLst>
          </p:cNvPr>
          <p:cNvPicPr>
            <a:picLocks noGrp="1" noChangeAspect="1"/>
          </p:cNvPicPr>
          <p:nvPr>
            <p:ph type="pic" sz="quarter" idx="60"/>
          </p:nvPr>
        </p:nvPicPr>
        <p:blipFill>
          <a:blip r:embed="rId6" cstate="print">
            <a:extLst>
              <a:ext uri="{28A0092B-C50C-407E-A947-70E740481C1C}">
                <a14:useLocalDpi xmlns:a14="http://schemas.microsoft.com/office/drawing/2010/main"/>
              </a:ext>
            </a:extLst>
          </a:blip>
          <a:srcRect l="11" r="11"/>
          <a:stretch/>
        </p:blipFill>
        <p:spPr>
          <a:xfrm>
            <a:off x="7361474" y="2073439"/>
            <a:ext cx="1621032" cy="1841551"/>
          </a:xfrm>
        </p:spPr>
      </p:pic>
      <p:sp>
        <p:nvSpPr>
          <p:cNvPr id="8" name="Text Placeholder 7">
            <a:extLst>
              <a:ext uri="{FF2B5EF4-FFF2-40B4-BE49-F238E27FC236}">
                <a16:creationId xmlns:a16="http://schemas.microsoft.com/office/drawing/2014/main" id="{8191C3C8-C0E0-3CDB-4135-0B495B273F9B}"/>
              </a:ext>
            </a:extLst>
          </p:cNvPr>
          <p:cNvSpPr>
            <a:spLocks noGrp="1"/>
          </p:cNvSpPr>
          <p:nvPr>
            <p:ph type="body" sz="quarter" idx="53"/>
          </p:nvPr>
        </p:nvSpPr>
        <p:spPr>
          <a:xfrm>
            <a:off x="5157212" y="4416564"/>
            <a:ext cx="1877575" cy="506399"/>
          </a:xfrm>
        </p:spPr>
        <p:txBody>
          <a:bodyPr/>
          <a:lstStyle/>
          <a:p>
            <a:r>
              <a:rPr lang="en-US" sz="2000" b="1" dirty="0">
                <a:latin typeface="Cambria Math" panose="02040503050406030204" pitchFamily="18" charset="0"/>
                <a:ea typeface="Cambria Math" panose="02040503050406030204" pitchFamily="18" charset="0"/>
              </a:rPr>
              <a:t>Create Search and Filtering Capabilities</a:t>
            </a:r>
            <a:endParaRPr lang="en-US" sz="2000" dirty="0">
              <a:latin typeface="Cambria Math" panose="02040503050406030204" pitchFamily="18" charset="0"/>
              <a:ea typeface="Cambria Math" panose="02040503050406030204" pitchFamily="18" charset="0"/>
            </a:endParaRPr>
          </a:p>
        </p:txBody>
      </p:sp>
      <p:pic>
        <p:nvPicPr>
          <p:cNvPr id="29" name="Picture Placeholder 89" descr="People around a table on their laptops">
            <a:extLst>
              <a:ext uri="{FF2B5EF4-FFF2-40B4-BE49-F238E27FC236}">
                <a16:creationId xmlns:a16="http://schemas.microsoft.com/office/drawing/2014/main" id="{22E5746D-BE00-C231-F505-973975B98BC8}"/>
              </a:ext>
            </a:extLst>
          </p:cNvPr>
          <p:cNvPicPr>
            <a:picLocks noGrp="1" noChangeAspect="1"/>
          </p:cNvPicPr>
          <p:nvPr>
            <p:ph type="pic" sz="quarter" idx="61"/>
          </p:nvPr>
        </p:nvPicPr>
        <p:blipFill rotWithShape="1">
          <a:blip r:embed="rId7" cstate="print">
            <a:extLst>
              <a:ext uri="{28A0092B-C50C-407E-A947-70E740481C1C}">
                <a14:useLocalDpi xmlns:a14="http://schemas.microsoft.com/office/drawing/2010/main"/>
              </a:ext>
            </a:extLst>
          </a:blip>
          <a:srcRect t="38" b="38"/>
          <a:stretch/>
        </p:blipFill>
        <p:spPr>
          <a:xfrm>
            <a:off x="9487536" y="2073439"/>
            <a:ext cx="1621032" cy="1841551"/>
          </a:xfrm>
        </p:spPr>
      </p:pic>
      <p:sp>
        <p:nvSpPr>
          <p:cNvPr id="10" name="Text Placeholder 9">
            <a:extLst>
              <a:ext uri="{FF2B5EF4-FFF2-40B4-BE49-F238E27FC236}">
                <a16:creationId xmlns:a16="http://schemas.microsoft.com/office/drawing/2014/main" id="{E203F197-0195-A43B-2C57-AB0BCDBBC427}"/>
              </a:ext>
            </a:extLst>
          </p:cNvPr>
          <p:cNvSpPr>
            <a:spLocks noGrp="1"/>
          </p:cNvSpPr>
          <p:nvPr>
            <p:ph type="body" sz="quarter" idx="55"/>
          </p:nvPr>
        </p:nvSpPr>
        <p:spPr>
          <a:xfrm>
            <a:off x="9445066" y="4416565"/>
            <a:ext cx="1877575" cy="506399"/>
          </a:xfrm>
        </p:spPr>
        <p:txBody>
          <a:bodyPr/>
          <a:lstStyle/>
          <a:p>
            <a:r>
              <a:rPr lang="en-IN" sz="2000" b="1" dirty="0">
                <a:latin typeface="Cambria Math" panose="02040503050406030204" pitchFamily="18" charset="0"/>
                <a:ea typeface="Cambria Math" panose="02040503050406030204" pitchFamily="18" charset="0"/>
              </a:rPr>
              <a:t>Integrate Project Alumni Features</a:t>
            </a:r>
            <a:endParaRPr lang="en-US" altLang="zh-CN" sz="2000" dirty="0">
              <a:latin typeface="Cambria Math" panose="02040503050406030204" pitchFamily="18" charset="0"/>
              <a:ea typeface="Cambria Math" panose="02040503050406030204" pitchFamily="18" charset="0"/>
            </a:endParaRPr>
          </a:p>
        </p:txBody>
      </p:sp>
      <p:sp>
        <p:nvSpPr>
          <p:cNvPr id="18" name="Footer Placeholder 17">
            <a:extLst>
              <a:ext uri="{FF2B5EF4-FFF2-40B4-BE49-F238E27FC236}">
                <a16:creationId xmlns:a16="http://schemas.microsoft.com/office/drawing/2014/main" id="{3C4058BD-8FE5-6A94-927D-47A49DA1E8B0}"/>
              </a:ext>
            </a:extLst>
          </p:cNvPr>
          <p:cNvSpPr>
            <a:spLocks noGrp="1"/>
          </p:cNvSpPr>
          <p:nvPr>
            <p:ph type="ftr" sz="quarter" idx="62"/>
          </p:nvPr>
        </p:nvSpPr>
        <p:spPr>
          <a:xfrm>
            <a:off x="484632" y="6217920"/>
            <a:ext cx="4114800" cy="365125"/>
          </a:xfrm>
        </p:spPr>
        <p:txBody>
          <a:bodyPr/>
          <a:lstStyle/>
          <a:p>
            <a:r>
              <a:rPr lang="en-US" dirty="0" err="1"/>
              <a:t>ThesisIT</a:t>
            </a:r>
            <a:endParaRPr lang="en-US" noProof="0" dirty="0"/>
          </a:p>
        </p:txBody>
      </p:sp>
    </p:spTree>
    <p:extLst>
      <p:ext uri="{BB962C8B-B14F-4D97-AF65-F5344CB8AC3E}">
        <p14:creationId xmlns:p14="http://schemas.microsoft.com/office/powerpoint/2010/main" val="2997378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478CB64C-71AF-6B72-8069-000DD250502E}"/>
              </a:ext>
            </a:extLst>
          </p:cNvPr>
          <p:cNvSpPr>
            <a:spLocks noGrp="1"/>
          </p:cNvSpPr>
          <p:nvPr>
            <p:ph type="title"/>
          </p:nvPr>
        </p:nvSpPr>
        <p:spPr/>
        <p:txBody>
          <a:bodyPr/>
          <a:lstStyle/>
          <a:p>
            <a:r>
              <a:rPr lang="en-US" sz="3200" dirty="0"/>
              <a:t>Plan Of Action</a:t>
            </a:r>
          </a:p>
        </p:txBody>
      </p:sp>
      <p:sp>
        <p:nvSpPr>
          <p:cNvPr id="40" name="Text Placeholder 39">
            <a:extLst>
              <a:ext uri="{FF2B5EF4-FFF2-40B4-BE49-F238E27FC236}">
                <a16:creationId xmlns:a16="http://schemas.microsoft.com/office/drawing/2014/main" id="{FA2F9A05-8E79-46FF-1ABA-927EF2D69BC5}"/>
              </a:ext>
            </a:extLst>
          </p:cNvPr>
          <p:cNvSpPr>
            <a:spLocks noGrp="1"/>
          </p:cNvSpPr>
          <p:nvPr>
            <p:ph type="body" sz="quarter" idx="27"/>
          </p:nvPr>
        </p:nvSpPr>
        <p:spPr/>
        <p:txBody>
          <a:bodyPr/>
          <a:lstStyle/>
          <a:p>
            <a:r>
              <a:rPr lang="en-US" sz="2000" dirty="0">
                <a:latin typeface="Cambria Math" panose="02040503050406030204" pitchFamily="18" charset="0"/>
                <a:ea typeface="Cambria Math" panose="02040503050406030204" pitchFamily="18" charset="0"/>
              </a:rPr>
              <a:t>Information Gathering</a:t>
            </a:r>
          </a:p>
        </p:txBody>
      </p:sp>
      <p:sp>
        <p:nvSpPr>
          <p:cNvPr id="50" name="Text Placeholder 49">
            <a:extLst>
              <a:ext uri="{FF2B5EF4-FFF2-40B4-BE49-F238E27FC236}">
                <a16:creationId xmlns:a16="http://schemas.microsoft.com/office/drawing/2014/main" id="{0532F467-8DBE-D445-0CF7-D5D242DAD663}"/>
              </a:ext>
            </a:extLst>
          </p:cNvPr>
          <p:cNvSpPr>
            <a:spLocks noGrp="1"/>
          </p:cNvSpPr>
          <p:nvPr>
            <p:ph type="body" sz="quarter" idx="32"/>
          </p:nvPr>
        </p:nvSpPr>
        <p:spPr>
          <a:xfrm>
            <a:off x="845392" y="2926161"/>
            <a:ext cx="1865376" cy="2464293"/>
          </a:xfrm>
        </p:spPr>
        <p:txBody>
          <a:bodyPr/>
          <a:lstStyle/>
          <a:p>
            <a:pPr lvl="0"/>
            <a:r>
              <a:rPr lang="en-US" sz="1600" dirty="0">
                <a:latin typeface="Cambria Math" panose="02040503050406030204" pitchFamily="18" charset="0"/>
                <a:ea typeface="Cambria Math" panose="02040503050406030204" pitchFamily="18" charset="0"/>
              </a:rPr>
              <a:t>Decide the core feature, define user needs and the technology stack.</a:t>
            </a:r>
          </a:p>
        </p:txBody>
      </p:sp>
      <p:sp>
        <p:nvSpPr>
          <p:cNvPr id="42" name="Text Placeholder 41">
            <a:extLst>
              <a:ext uri="{FF2B5EF4-FFF2-40B4-BE49-F238E27FC236}">
                <a16:creationId xmlns:a16="http://schemas.microsoft.com/office/drawing/2014/main" id="{48BF8F22-E288-84B0-03E9-82D678051D45}"/>
              </a:ext>
            </a:extLst>
          </p:cNvPr>
          <p:cNvSpPr>
            <a:spLocks noGrp="1"/>
          </p:cNvSpPr>
          <p:nvPr>
            <p:ph type="body" sz="quarter" idx="46"/>
          </p:nvPr>
        </p:nvSpPr>
        <p:spPr/>
        <p:txBody>
          <a:bodyPr/>
          <a:lstStyle/>
          <a:p>
            <a:r>
              <a:rPr lang="en-US" sz="2000" dirty="0">
                <a:latin typeface="Cambria Math" panose="02040503050406030204" pitchFamily="18" charset="0"/>
                <a:ea typeface="Cambria Math" panose="02040503050406030204" pitchFamily="18" charset="0"/>
              </a:rPr>
              <a:t>Design</a:t>
            </a:r>
          </a:p>
        </p:txBody>
      </p:sp>
      <p:sp>
        <p:nvSpPr>
          <p:cNvPr id="52" name="Text Placeholder 51">
            <a:extLst>
              <a:ext uri="{FF2B5EF4-FFF2-40B4-BE49-F238E27FC236}">
                <a16:creationId xmlns:a16="http://schemas.microsoft.com/office/drawing/2014/main" id="{BACB9342-C47E-6729-46BE-F10DBB78182A}"/>
              </a:ext>
            </a:extLst>
          </p:cNvPr>
          <p:cNvSpPr>
            <a:spLocks noGrp="1"/>
          </p:cNvSpPr>
          <p:nvPr>
            <p:ph type="body" sz="quarter" idx="50"/>
          </p:nvPr>
        </p:nvSpPr>
        <p:spPr/>
        <p:txBody>
          <a:bodyPr/>
          <a:lstStyle/>
          <a:p>
            <a:r>
              <a:rPr lang="en-US" sz="1600" dirty="0">
                <a:latin typeface="Cambria Math" panose="02040503050406030204" pitchFamily="18" charset="0"/>
                <a:ea typeface="Cambria Math" panose="02040503050406030204" pitchFamily="18" charset="0"/>
              </a:rPr>
              <a:t>Use tools like Figma for prototyping user experience</a:t>
            </a:r>
          </a:p>
        </p:txBody>
      </p:sp>
      <p:sp>
        <p:nvSpPr>
          <p:cNvPr id="44" name="Text Placeholder 43">
            <a:extLst>
              <a:ext uri="{FF2B5EF4-FFF2-40B4-BE49-F238E27FC236}">
                <a16:creationId xmlns:a16="http://schemas.microsoft.com/office/drawing/2014/main" id="{D0C47E92-8875-E555-5480-8A9BAEE853A7}"/>
              </a:ext>
            </a:extLst>
          </p:cNvPr>
          <p:cNvSpPr>
            <a:spLocks noGrp="1"/>
          </p:cNvSpPr>
          <p:nvPr>
            <p:ph type="body" sz="quarter" idx="47"/>
          </p:nvPr>
        </p:nvSpPr>
        <p:spPr/>
        <p:txBody>
          <a:bodyPr/>
          <a:lstStyle/>
          <a:p>
            <a:r>
              <a:rPr lang="en-US" sz="2000" dirty="0">
                <a:latin typeface="Cambria Math" panose="02040503050406030204" pitchFamily="18" charset="0"/>
                <a:ea typeface="Cambria Math" panose="02040503050406030204" pitchFamily="18" charset="0"/>
              </a:rPr>
              <a:t>Development</a:t>
            </a:r>
          </a:p>
        </p:txBody>
      </p:sp>
      <p:sp>
        <p:nvSpPr>
          <p:cNvPr id="54" name="Text Placeholder 53">
            <a:extLst>
              <a:ext uri="{FF2B5EF4-FFF2-40B4-BE49-F238E27FC236}">
                <a16:creationId xmlns:a16="http://schemas.microsoft.com/office/drawing/2014/main" id="{DDCD388C-8374-D810-DCE5-554B7E05F55A}"/>
              </a:ext>
            </a:extLst>
          </p:cNvPr>
          <p:cNvSpPr>
            <a:spLocks noGrp="1"/>
          </p:cNvSpPr>
          <p:nvPr>
            <p:ph type="body" sz="quarter" idx="51"/>
          </p:nvPr>
        </p:nvSpPr>
        <p:spPr/>
        <p:txBody>
          <a:bodyPr/>
          <a:lstStyle/>
          <a:p>
            <a:r>
              <a:rPr lang="en-US" sz="1600" dirty="0">
                <a:latin typeface="Cambria Math" panose="02040503050406030204" pitchFamily="18" charset="0"/>
                <a:ea typeface="Cambria Math" panose="02040503050406030204" pitchFamily="18" charset="0"/>
              </a:rPr>
              <a:t>Perform frontend development, backend integration and implement various features</a:t>
            </a:r>
            <a:r>
              <a:rPr lang="en-US" dirty="0"/>
              <a:t>.</a:t>
            </a:r>
          </a:p>
        </p:txBody>
      </p:sp>
      <p:sp>
        <p:nvSpPr>
          <p:cNvPr id="46" name="Text Placeholder 45">
            <a:extLst>
              <a:ext uri="{FF2B5EF4-FFF2-40B4-BE49-F238E27FC236}">
                <a16:creationId xmlns:a16="http://schemas.microsoft.com/office/drawing/2014/main" id="{B87AFF1A-EF07-5FBF-C582-29AE302A47D5}"/>
              </a:ext>
            </a:extLst>
          </p:cNvPr>
          <p:cNvSpPr>
            <a:spLocks noGrp="1"/>
          </p:cNvSpPr>
          <p:nvPr>
            <p:ph type="body" sz="quarter" idx="48"/>
          </p:nvPr>
        </p:nvSpPr>
        <p:spPr/>
        <p:txBody>
          <a:bodyPr/>
          <a:lstStyle/>
          <a:p>
            <a:r>
              <a:rPr lang="en-US" sz="2000" dirty="0">
                <a:latin typeface="Cambria Math" panose="02040503050406030204" pitchFamily="18" charset="0"/>
                <a:ea typeface="Cambria Math" panose="02040503050406030204" pitchFamily="18" charset="0"/>
              </a:rPr>
              <a:t>Testing and Deployment</a:t>
            </a:r>
          </a:p>
        </p:txBody>
      </p:sp>
      <p:sp>
        <p:nvSpPr>
          <p:cNvPr id="56" name="Text Placeholder 55">
            <a:extLst>
              <a:ext uri="{FF2B5EF4-FFF2-40B4-BE49-F238E27FC236}">
                <a16:creationId xmlns:a16="http://schemas.microsoft.com/office/drawing/2014/main" id="{E62055F1-67DB-9D6D-ABE2-20C3B2514A43}"/>
              </a:ext>
            </a:extLst>
          </p:cNvPr>
          <p:cNvSpPr>
            <a:spLocks noGrp="1"/>
          </p:cNvSpPr>
          <p:nvPr>
            <p:ph type="body" sz="quarter" idx="52"/>
          </p:nvPr>
        </p:nvSpPr>
        <p:spPr/>
        <p:txBody>
          <a:bodyPr/>
          <a:lstStyle/>
          <a:p>
            <a:r>
              <a:rPr lang="en-US" sz="1600" dirty="0">
                <a:latin typeface="Cambria Math" panose="02040503050406030204" pitchFamily="18" charset="0"/>
                <a:ea typeface="Cambria Math" panose="02040503050406030204" pitchFamily="18" charset="0"/>
              </a:rPr>
              <a:t>Perform testing to identify issues and improvement and deploy the project to cloud</a:t>
            </a:r>
          </a:p>
        </p:txBody>
      </p:sp>
      <p:sp>
        <p:nvSpPr>
          <p:cNvPr id="48" name="Text Placeholder 47">
            <a:extLst>
              <a:ext uri="{FF2B5EF4-FFF2-40B4-BE49-F238E27FC236}">
                <a16:creationId xmlns:a16="http://schemas.microsoft.com/office/drawing/2014/main" id="{9303DF4A-6DF5-9082-4ABE-2B0D5433359A}"/>
              </a:ext>
            </a:extLst>
          </p:cNvPr>
          <p:cNvSpPr>
            <a:spLocks noGrp="1"/>
          </p:cNvSpPr>
          <p:nvPr>
            <p:ph type="body" sz="quarter" idx="49"/>
          </p:nvPr>
        </p:nvSpPr>
        <p:spPr/>
        <p:txBody>
          <a:bodyPr/>
          <a:lstStyle/>
          <a:p>
            <a:r>
              <a:rPr lang="en-US" sz="2000" dirty="0" err="1">
                <a:latin typeface="Cambria Math" panose="02040503050406030204" pitchFamily="18" charset="0"/>
                <a:ea typeface="Cambria Math" panose="02040503050406030204" pitchFamily="18" charset="0"/>
              </a:rPr>
              <a:t>Maintainence</a:t>
            </a:r>
            <a:endParaRPr lang="en-US" sz="2000" dirty="0">
              <a:latin typeface="Cambria Math" panose="02040503050406030204" pitchFamily="18" charset="0"/>
              <a:ea typeface="Cambria Math" panose="02040503050406030204" pitchFamily="18" charset="0"/>
            </a:endParaRPr>
          </a:p>
        </p:txBody>
      </p:sp>
      <p:sp>
        <p:nvSpPr>
          <p:cNvPr id="58" name="Text Placeholder 57">
            <a:extLst>
              <a:ext uri="{FF2B5EF4-FFF2-40B4-BE49-F238E27FC236}">
                <a16:creationId xmlns:a16="http://schemas.microsoft.com/office/drawing/2014/main" id="{0930742F-3693-100E-944F-A04AB5320145}"/>
              </a:ext>
            </a:extLst>
          </p:cNvPr>
          <p:cNvSpPr>
            <a:spLocks noGrp="1"/>
          </p:cNvSpPr>
          <p:nvPr>
            <p:ph type="body" sz="quarter" idx="53"/>
          </p:nvPr>
        </p:nvSpPr>
        <p:spPr/>
        <p:txBody>
          <a:bodyPr/>
          <a:lstStyle/>
          <a:p>
            <a:r>
              <a:rPr lang="en-US" sz="1600" dirty="0">
                <a:latin typeface="Cambria Math" panose="02040503050406030204" pitchFamily="18" charset="0"/>
                <a:ea typeface="Cambria Math" panose="02040503050406030204" pitchFamily="18" charset="0"/>
              </a:rPr>
              <a:t>Monitor the web performance and maintain security</a:t>
            </a:r>
          </a:p>
        </p:txBody>
      </p:sp>
      <p:sp>
        <p:nvSpPr>
          <p:cNvPr id="4" name="Footer Placeholder 3">
            <a:extLst>
              <a:ext uri="{FF2B5EF4-FFF2-40B4-BE49-F238E27FC236}">
                <a16:creationId xmlns:a16="http://schemas.microsoft.com/office/drawing/2014/main" id="{CE70155C-EA7D-1AC6-6F40-25FF295F9BD4}"/>
              </a:ext>
            </a:extLst>
          </p:cNvPr>
          <p:cNvSpPr>
            <a:spLocks noGrp="1"/>
          </p:cNvSpPr>
          <p:nvPr>
            <p:ph type="ftr" sz="quarter" idx="54"/>
          </p:nvPr>
        </p:nvSpPr>
        <p:spPr/>
        <p:txBody>
          <a:bodyPr/>
          <a:lstStyle/>
          <a:p>
            <a:r>
              <a:rPr lang="en-US" dirty="0" err="1"/>
              <a:t>ThesisIT</a:t>
            </a:r>
            <a:endParaRPr lang="en-US" dirty="0"/>
          </a:p>
        </p:txBody>
      </p:sp>
      <p:sp>
        <p:nvSpPr>
          <p:cNvPr id="15" name="Slide Number Placeholder 13">
            <a:extLst>
              <a:ext uri="{FF2B5EF4-FFF2-40B4-BE49-F238E27FC236}">
                <a16:creationId xmlns:a16="http://schemas.microsoft.com/office/drawing/2014/main" id="{679DA676-802B-4F1C-F2D7-8AB7BA23BD93}"/>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6" name="Rectangle 25">
            <a:extLst>
              <a:ext uri="{FF2B5EF4-FFF2-40B4-BE49-F238E27FC236}">
                <a16:creationId xmlns:a16="http://schemas.microsoft.com/office/drawing/2014/main" id="{285177ED-2E57-8FF5-AFD8-AA79A7B24B3D}"/>
              </a:ext>
              <a:ext uri="{C183D7F6-B498-43B3-948B-1728B52AA6E4}">
                <adec:decorative xmlns:adec="http://schemas.microsoft.com/office/drawing/2017/decorative" val="1"/>
              </a:ext>
            </a:extLst>
          </p:cNvPr>
          <p:cNvSpPr/>
          <p:nvPr/>
        </p:nvSpPr>
        <p:spPr>
          <a:xfrm>
            <a:off x="845392" y="2066625"/>
            <a:ext cx="10515600" cy="859536"/>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latin typeface="+mn-lt"/>
            </a:endParaRPr>
          </a:p>
        </p:txBody>
      </p:sp>
    </p:spTree>
    <p:extLst>
      <p:ext uri="{BB962C8B-B14F-4D97-AF65-F5344CB8AC3E}">
        <p14:creationId xmlns:p14="http://schemas.microsoft.com/office/powerpoint/2010/main" val="2624021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E17942FE-65D3-7C03-B361-8DF125B81DC1}"/>
              </a:ext>
            </a:extLst>
          </p:cNvPr>
          <p:cNvSpPr>
            <a:spLocks noGrp="1"/>
          </p:cNvSpPr>
          <p:nvPr>
            <p:ph type="title"/>
          </p:nvPr>
        </p:nvSpPr>
        <p:spPr>
          <a:xfrm>
            <a:off x="3964883" y="282277"/>
            <a:ext cx="4789499" cy="1205058"/>
          </a:xfrm>
        </p:spPr>
        <p:txBody>
          <a:bodyPr/>
          <a:lstStyle/>
          <a:p>
            <a:r>
              <a:rPr lang="en-US" sz="3200" dirty="0"/>
              <a:t>Software Requirements</a:t>
            </a:r>
            <a:br>
              <a:rPr lang="en-US" sz="3200" dirty="0"/>
            </a:br>
            <a:endParaRPr lang="en-US" sz="3200" dirty="0"/>
          </a:p>
        </p:txBody>
      </p:sp>
      <p:sp>
        <p:nvSpPr>
          <p:cNvPr id="16" name="Picture Placeholder 15">
            <a:extLst>
              <a:ext uri="{FF2B5EF4-FFF2-40B4-BE49-F238E27FC236}">
                <a16:creationId xmlns:a16="http://schemas.microsoft.com/office/drawing/2014/main" id="{7BD10CEB-2241-4246-B0F4-96E0DB642C4C}"/>
              </a:ext>
            </a:extLst>
          </p:cNvPr>
          <p:cNvSpPr>
            <a:spLocks noGrp="1"/>
          </p:cNvSpPr>
          <p:nvPr>
            <p:ph type="body" sz="quarter" idx="28"/>
          </p:nvPr>
        </p:nvSpPr>
        <p:spPr>
          <a:xfrm>
            <a:off x="1603244" y="4435525"/>
            <a:ext cx="1877575" cy="506399"/>
          </a:xfrm>
        </p:spPr>
        <p:txBody>
          <a:bodyPr/>
          <a:lstStyle/>
          <a:p>
            <a:r>
              <a:rPr lang="en-US" altLang="zh-CN" sz="1800" b="1" dirty="0">
                <a:latin typeface="Cambria Math" panose="02040503050406030204" pitchFamily="18" charset="0"/>
                <a:ea typeface="Cambria Math" panose="02040503050406030204" pitchFamily="18" charset="0"/>
              </a:rPr>
              <a:t>Figma </a:t>
            </a:r>
          </a:p>
          <a:p>
            <a:r>
              <a:rPr lang="en-US" altLang="zh-CN" sz="1800" dirty="0">
                <a:latin typeface="Cambria Math" panose="02040503050406030204" pitchFamily="18" charset="0"/>
                <a:ea typeface="Cambria Math" panose="02040503050406030204" pitchFamily="18" charset="0"/>
              </a:rPr>
              <a:t>For prototype designing</a:t>
            </a:r>
          </a:p>
        </p:txBody>
      </p:sp>
      <p:sp>
        <p:nvSpPr>
          <p:cNvPr id="65" name="Text Placeholder 64">
            <a:extLst>
              <a:ext uri="{FF2B5EF4-FFF2-40B4-BE49-F238E27FC236}">
                <a16:creationId xmlns:a16="http://schemas.microsoft.com/office/drawing/2014/main" id="{0ECD9490-0BE0-6A65-01CD-D54CAB839511}"/>
              </a:ext>
            </a:extLst>
          </p:cNvPr>
          <p:cNvSpPr>
            <a:spLocks noGrp="1"/>
          </p:cNvSpPr>
          <p:nvPr>
            <p:ph type="body" sz="quarter" idx="38"/>
          </p:nvPr>
        </p:nvSpPr>
        <p:spPr>
          <a:xfrm>
            <a:off x="3924098" y="2058408"/>
            <a:ext cx="1877575" cy="506399"/>
          </a:xfrm>
        </p:spPr>
        <p:txBody>
          <a:bodyPr/>
          <a:lstStyle/>
          <a:p>
            <a:r>
              <a:rPr lang="en-US" sz="2000" dirty="0">
                <a:latin typeface="Cambria Math" panose="02040503050406030204" pitchFamily="18" charset="0"/>
                <a:ea typeface="Cambria Math" panose="02040503050406030204" pitchFamily="18" charset="0"/>
              </a:rPr>
              <a:t>For Frontend:</a:t>
            </a:r>
          </a:p>
        </p:txBody>
      </p:sp>
      <p:sp>
        <p:nvSpPr>
          <p:cNvPr id="19" name="Picture Placeholder 18">
            <a:extLst>
              <a:ext uri="{FF2B5EF4-FFF2-40B4-BE49-F238E27FC236}">
                <a16:creationId xmlns:a16="http://schemas.microsoft.com/office/drawing/2014/main" id="{78038ACE-740A-4AE7-A0B3-BEEA90495BDD}"/>
              </a:ext>
            </a:extLst>
          </p:cNvPr>
          <p:cNvSpPr>
            <a:spLocks noGrp="1"/>
          </p:cNvSpPr>
          <p:nvPr>
            <p:ph type="body" sz="quarter" idx="39"/>
          </p:nvPr>
        </p:nvSpPr>
        <p:spPr>
          <a:xfrm>
            <a:off x="3924098" y="2653130"/>
            <a:ext cx="1877575" cy="506399"/>
          </a:xfrm>
        </p:spPr>
        <p:txBody>
          <a:bodyPr/>
          <a:lstStyle/>
          <a:p>
            <a:pPr lvl="0"/>
            <a:r>
              <a:rPr lang="en-US" altLang="zh-CN" sz="1800" dirty="0">
                <a:latin typeface="Cambria Math" panose="02040503050406030204" pitchFamily="18" charset="0"/>
                <a:ea typeface="Cambria Math" panose="02040503050406030204" pitchFamily="18" charset="0"/>
              </a:rPr>
              <a:t>HTML </a:t>
            </a:r>
          </a:p>
          <a:p>
            <a:pPr lvl="0"/>
            <a:r>
              <a:rPr lang="en-US" altLang="zh-CN" sz="1800" dirty="0">
                <a:latin typeface="Cambria Math" panose="02040503050406030204" pitchFamily="18" charset="0"/>
                <a:ea typeface="Cambria Math" panose="02040503050406030204" pitchFamily="18" charset="0"/>
              </a:rPr>
              <a:t>CSS</a:t>
            </a:r>
          </a:p>
          <a:p>
            <a:pPr lvl="0"/>
            <a:r>
              <a:rPr lang="en-US" altLang="zh-CN" sz="1800" dirty="0">
                <a:latin typeface="Cambria Math" panose="02040503050406030204" pitchFamily="18" charset="0"/>
                <a:ea typeface="Cambria Math" panose="02040503050406030204" pitchFamily="18" charset="0"/>
              </a:rPr>
              <a:t>JavaScript</a:t>
            </a:r>
          </a:p>
        </p:txBody>
      </p:sp>
      <p:sp>
        <p:nvSpPr>
          <p:cNvPr id="67" name="Text Placeholder 66">
            <a:extLst>
              <a:ext uri="{FF2B5EF4-FFF2-40B4-BE49-F238E27FC236}">
                <a16:creationId xmlns:a16="http://schemas.microsoft.com/office/drawing/2014/main" id="{CEEED1DD-BCBD-5246-2A2C-BCED87782D53}"/>
              </a:ext>
            </a:extLst>
          </p:cNvPr>
          <p:cNvSpPr>
            <a:spLocks noGrp="1"/>
          </p:cNvSpPr>
          <p:nvPr>
            <p:ph type="body" sz="quarter" idx="40"/>
          </p:nvPr>
        </p:nvSpPr>
        <p:spPr>
          <a:xfrm>
            <a:off x="5107229" y="4797957"/>
            <a:ext cx="1877575" cy="506399"/>
          </a:xfrm>
        </p:spPr>
        <p:txBody>
          <a:bodyPr/>
          <a:lstStyle/>
          <a:p>
            <a:r>
              <a:rPr lang="en-US" sz="2000" dirty="0"/>
              <a:t>Backend Framework </a:t>
            </a:r>
          </a:p>
          <a:p>
            <a:endParaRPr lang="en-US" sz="2000" dirty="0">
              <a:latin typeface="Cambria Math" panose="02040503050406030204" pitchFamily="18" charset="0"/>
              <a:ea typeface="Cambria Math" panose="02040503050406030204" pitchFamily="18" charset="0"/>
            </a:endParaRPr>
          </a:p>
        </p:txBody>
      </p:sp>
      <p:sp>
        <p:nvSpPr>
          <p:cNvPr id="21" name="Picture Placeholder 20">
            <a:extLst>
              <a:ext uri="{FF2B5EF4-FFF2-40B4-BE49-F238E27FC236}">
                <a16:creationId xmlns:a16="http://schemas.microsoft.com/office/drawing/2014/main" id="{DD441F7A-4624-45D2-AE88-EEBA65185E6D}"/>
              </a:ext>
            </a:extLst>
          </p:cNvPr>
          <p:cNvSpPr>
            <a:spLocks noGrp="1"/>
          </p:cNvSpPr>
          <p:nvPr>
            <p:ph type="body" sz="quarter" idx="41"/>
          </p:nvPr>
        </p:nvSpPr>
        <p:spPr>
          <a:xfrm>
            <a:off x="5107229" y="4932425"/>
            <a:ext cx="1877575" cy="506399"/>
          </a:xfrm>
        </p:spPr>
        <p:txBody>
          <a:bodyPr/>
          <a:lstStyle/>
          <a:p>
            <a:r>
              <a:rPr lang="en-US" altLang="zh-CN" sz="1800" dirty="0">
                <a:latin typeface="Cambria Math" panose="02040503050406030204" pitchFamily="18" charset="0"/>
                <a:ea typeface="Cambria Math" panose="02040503050406030204" pitchFamily="18" charset="0"/>
              </a:rPr>
              <a:t>Node.js</a:t>
            </a:r>
          </a:p>
          <a:p>
            <a:r>
              <a:rPr lang="en-US" altLang="zh-CN" sz="1800" dirty="0">
                <a:latin typeface="Cambria Math" panose="02040503050406030204" pitchFamily="18" charset="0"/>
                <a:ea typeface="Cambria Math" panose="02040503050406030204" pitchFamily="18" charset="0"/>
              </a:rPr>
              <a:t>Express.js</a:t>
            </a:r>
          </a:p>
          <a:p>
            <a:endParaRPr lang="en-US" altLang="zh-CN" sz="1800" dirty="0">
              <a:latin typeface="Cambria Math" panose="02040503050406030204" pitchFamily="18" charset="0"/>
              <a:ea typeface="Cambria Math" panose="02040503050406030204" pitchFamily="18" charset="0"/>
            </a:endParaRPr>
          </a:p>
        </p:txBody>
      </p:sp>
      <p:sp>
        <p:nvSpPr>
          <p:cNvPr id="69" name="Text Placeholder 68">
            <a:extLst>
              <a:ext uri="{FF2B5EF4-FFF2-40B4-BE49-F238E27FC236}">
                <a16:creationId xmlns:a16="http://schemas.microsoft.com/office/drawing/2014/main" id="{868536F0-BECB-41C2-208F-CAAC89E244FF}"/>
              </a:ext>
            </a:extLst>
          </p:cNvPr>
          <p:cNvSpPr>
            <a:spLocks noGrp="1"/>
          </p:cNvSpPr>
          <p:nvPr>
            <p:ph type="body" sz="quarter" idx="42"/>
          </p:nvPr>
        </p:nvSpPr>
        <p:spPr>
          <a:xfrm>
            <a:off x="7501940" y="4932240"/>
            <a:ext cx="1877575" cy="506399"/>
          </a:xfrm>
        </p:spPr>
        <p:txBody>
          <a:bodyPr/>
          <a:lstStyle/>
          <a:p>
            <a:pPr marL="0" indent="0" algn="ctr">
              <a:lnSpc>
                <a:spcPct val="100000"/>
              </a:lnSpc>
              <a:spcBef>
                <a:spcPts val="0"/>
              </a:spcBef>
              <a:buFontTx/>
              <a:buNone/>
            </a:pPr>
            <a:r>
              <a:rPr lang="en-IN" sz="1800" b="1" dirty="0">
                <a:solidFill>
                  <a:prstClr val="white"/>
                </a:solidFill>
                <a:latin typeface="Cambria Math" panose="02040503050406030204" pitchFamily="18" charset="0"/>
                <a:ea typeface="Cambria Math" panose="02040503050406030204" pitchFamily="18" charset="0"/>
                <a:cs typeface="Posterama" panose="020B0504020200020000" pitchFamily="34" charset="0"/>
              </a:rPr>
              <a:t>Database :</a:t>
            </a:r>
          </a:p>
          <a:p>
            <a:pPr marL="0" indent="0" algn="ctr">
              <a:lnSpc>
                <a:spcPct val="100000"/>
              </a:lnSpc>
              <a:spcBef>
                <a:spcPts val="0"/>
              </a:spcBef>
              <a:buFontTx/>
              <a:buNone/>
            </a:pPr>
            <a:r>
              <a:rPr lang="en-IN" dirty="0">
                <a:solidFill>
                  <a:prstClr val="white"/>
                </a:solidFill>
                <a:latin typeface="Cambria Math" panose="02040503050406030204" pitchFamily="18" charset="0"/>
                <a:ea typeface="Cambria Math" panose="02040503050406030204" pitchFamily="18" charset="0"/>
                <a:cs typeface="Posterama" panose="020B0504020200020000" pitchFamily="34" charset="0"/>
              </a:rPr>
              <a:t>MongoDB</a:t>
            </a:r>
          </a:p>
          <a:p>
            <a:endParaRPr lang="en-US" dirty="0"/>
          </a:p>
        </p:txBody>
      </p:sp>
      <p:sp>
        <p:nvSpPr>
          <p:cNvPr id="71" name="Text Placeholder 70">
            <a:extLst>
              <a:ext uri="{FF2B5EF4-FFF2-40B4-BE49-F238E27FC236}">
                <a16:creationId xmlns:a16="http://schemas.microsoft.com/office/drawing/2014/main" id="{FAFB92ED-EE9E-1E13-228D-2A33EE0B2FC2}"/>
              </a:ext>
            </a:extLst>
          </p:cNvPr>
          <p:cNvSpPr>
            <a:spLocks noGrp="1"/>
          </p:cNvSpPr>
          <p:nvPr>
            <p:ph type="body" sz="quarter" idx="44"/>
          </p:nvPr>
        </p:nvSpPr>
        <p:spPr>
          <a:xfrm>
            <a:off x="8754382" y="2698565"/>
            <a:ext cx="1877575" cy="506399"/>
          </a:xfrm>
        </p:spPr>
        <p:txBody>
          <a:bodyPr/>
          <a:lstStyle/>
          <a:p>
            <a:r>
              <a:rPr lang="en-US" dirty="0"/>
              <a:t>AWS Cloud Deployment </a:t>
            </a:r>
          </a:p>
        </p:txBody>
      </p:sp>
      <p:sp>
        <p:nvSpPr>
          <p:cNvPr id="4" name="Footer Placeholder 3">
            <a:extLst>
              <a:ext uri="{FF2B5EF4-FFF2-40B4-BE49-F238E27FC236}">
                <a16:creationId xmlns:a16="http://schemas.microsoft.com/office/drawing/2014/main" id="{D0B7C211-AD9C-8CEC-B456-8FA0021960A9}"/>
              </a:ext>
            </a:extLst>
          </p:cNvPr>
          <p:cNvSpPr>
            <a:spLocks noGrp="1"/>
          </p:cNvSpPr>
          <p:nvPr>
            <p:ph type="ftr" sz="quarter" idx="46"/>
          </p:nvPr>
        </p:nvSpPr>
        <p:spPr/>
        <p:txBody>
          <a:bodyPr/>
          <a:lstStyle/>
          <a:p>
            <a:r>
              <a:rPr lang="en-US" dirty="0" err="1"/>
              <a:t>ThesisIT</a:t>
            </a:r>
            <a:endParaRPr lang="en-US" dirty="0"/>
          </a:p>
        </p:txBody>
      </p:sp>
      <p:sp>
        <p:nvSpPr>
          <p:cNvPr id="15" name="Slide Number Placeholder 13">
            <a:extLst>
              <a:ext uri="{FF2B5EF4-FFF2-40B4-BE49-F238E27FC236}">
                <a16:creationId xmlns:a16="http://schemas.microsoft.com/office/drawing/2014/main" id="{F783E846-53E9-08B1-C781-088BBC6B548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3" name="Text Placeholder 2">
            <a:extLst>
              <a:ext uri="{FF2B5EF4-FFF2-40B4-BE49-F238E27FC236}">
                <a16:creationId xmlns:a16="http://schemas.microsoft.com/office/drawing/2014/main" id="{6036232D-E236-1D8C-208A-7F1C981DAFEA}"/>
              </a:ext>
            </a:extLst>
          </p:cNvPr>
          <p:cNvSpPr>
            <a:spLocks noGrp="1"/>
          </p:cNvSpPr>
          <p:nvPr>
            <p:ph type="body" sz="quarter" idx="27"/>
          </p:nvPr>
        </p:nvSpPr>
        <p:spPr>
          <a:xfrm>
            <a:off x="1603242" y="3443661"/>
            <a:ext cx="1877575" cy="506399"/>
          </a:xfrm>
        </p:spPr>
        <p:txBody>
          <a:bodyPr/>
          <a:lstStyle/>
          <a:p>
            <a:r>
              <a:rPr lang="en-IN" sz="2000" dirty="0">
                <a:latin typeface="Cambria Math" panose="02040503050406030204" pitchFamily="18" charset="0"/>
                <a:ea typeface="Cambria Math" panose="02040503050406030204" pitchFamily="18" charset="0"/>
              </a:rPr>
              <a:t>VS Code</a:t>
            </a:r>
          </a:p>
        </p:txBody>
      </p:sp>
      <p:sp>
        <p:nvSpPr>
          <p:cNvPr id="5" name="TextBox 4">
            <a:extLst>
              <a:ext uri="{FF2B5EF4-FFF2-40B4-BE49-F238E27FC236}">
                <a16:creationId xmlns:a16="http://schemas.microsoft.com/office/drawing/2014/main" id="{22815E3E-A848-12F8-EC88-7A6FC71C8883}"/>
              </a:ext>
            </a:extLst>
          </p:cNvPr>
          <p:cNvSpPr txBox="1"/>
          <p:nvPr/>
        </p:nvSpPr>
        <p:spPr>
          <a:xfrm>
            <a:off x="1450943" y="3881527"/>
            <a:ext cx="2182175" cy="369332"/>
          </a:xfrm>
          <a:prstGeom prst="rect">
            <a:avLst/>
          </a:prstGeom>
        </p:spPr>
        <p:txBody>
          <a:bodyPr wrap="square" rtlCol="0">
            <a:spAutoFit/>
          </a:bodyPr>
          <a:lstStyle/>
          <a:p>
            <a:pPr marL="0" indent="0" algn="ctr">
              <a:lnSpc>
                <a:spcPct val="100000"/>
              </a:lnSpc>
              <a:spcBef>
                <a:spcPts val="0"/>
              </a:spcBef>
              <a:buFontTx/>
              <a:buNone/>
            </a:pPr>
            <a:r>
              <a:rPr lang="en-IN" sz="1800" dirty="0">
                <a:solidFill>
                  <a:prstClr val="white"/>
                </a:solidFill>
                <a:latin typeface="Cambria Math" panose="02040503050406030204" pitchFamily="18" charset="0"/>
                <a:ea typeface="Cambria Math" panose="02040503050406030204" pitchFamily="18" charset="0"/>
                <a:cs typeface="Posterama" panose="020B0504020200020000" pitchFamily="34" charset="0"/>
              </a:rPr>
              <a:t>As a code editor</a:t>
            </a:r>
          </a:p>
        </p:txBody>
      </p:sp>
    </p:spTree>
    <p:extLst>
      <p:ext uri="{BB962C8B-B14F-4D97-AF65-F5344CB8AC3E}">
        <p14:creationId xmlns:p14="http://schemas.microsoft.com/office/powerpoint/2010/main" val="3760906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4341281" y="274955"/>
            <a:ext cx="3369737" cy="699161"/>
          </a:xfrm>
        </p:spPr>
        <p:txBody>
          <a:bodyPr/>
          <a:lstStyle/>
          <a:p>
            <a:r>
              <a:rPr lang="en-US" sz="3200" dirty="0"/>
              <a:t>Literature Survey</a:t>
            </a:r>
          </a:p>
        </p:txBody>
      </p:sp>
      <p:sp>
        <p:nvSpPr>
          <p:cNvPr id="5" name="Footer Placeholder 4">
            <a:extLst>
              <a:ext uri="{FF2B5EF4-FFF2-40B4-BE49-F238E27FC236}">
                <a16:creationId xmlns:a16="http://schemas.microsoft.com/office/drawing/2014/main" id="{6229630B-7BF6-61B1-6AAC-BA71F50283DD}"/>
              </a:ext>
            </a:extLst>
          </p:cNvPr>
          <p:cNvSpPr>
            <a:spLocks noGrp="1"/>
          </p:cNvSpPr>
          <p:nvPr>
            <p:ph type="ftr" sz="quarter" idx="28"/>
          </p:nvPr>
        </p:nvSpPr>
        <p:spPr>
          <a:xfrm>
            <a:off x="464312" y="6398227"/>
            <a:ext cx="4114800" cy="365125"/>
          </a:xfrm>
        </p:spPr>
        <p:txBody>
          <a:bodyPr/>
          <a:lstStyle/>
          <a:p>
            <a:r>
              <a:rPr lang="en-US" dirty="0" err="1"/>
              <a:t>ThesisIT</a:t>
            </a:r>
            <a:endParaRPr lang="en-US" dirty="0"/>
          </a:p>
          <a:p>
            <a:endParaRPr lang="en-US" dirty="0"/>
          </a:p>
        </p:txBody>
      </p:sp>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graphicFrame>
        <p:nvGraphicFramePr>
          <p:cNvPr id="7" name="Table Placeholder 6">
            <a:extLst>
              <a:ext uri="{FF2B5EF4-FFF2-40B4-BE49-F238E27FC236}">
                <a16:creationId xmlns:a16="http://schemas.microsoft.com/office/drawing/2014/main" id="{B78F1FB8-F3F6-DD18-F579-1434B02F04CC}"/>
              </a:ext>
            </a:extLst>
          </p:cNvPr>
          <p:cNvGraphicFramePr>
            <a:graphicFrameLocks noGrp="1"/>
          </p:cNvGraphicFramePr>
          <p:nvPr>
            <p:ph type="tbl" sz="quarter" idx="27"/>
            <p:extLst>
              <p:ext uri="{D42A27DB-BD31-4B8C-83A1-F6EECF244321}">
                <p14:modId xmlns:p14="http://schemas.microsoft.com/office/powerpoint/2010/main" val="2010346424"/>
              </p:ext>
            </p:extLst>
          </p:nvPr>
        </p:nvGraphicFramePr>
        <p:xfrm>
          <a:off x="1059874" y="1257300"/>
          <a:ext cx="10134295" cy="5062273"/>
        </p:xfrm>
        <a:graphic>
          <a:graphicData uri="http://schemas.openxmlformats.org/drawingml/2006/table">
            <a:tbl>
              <a:tblPr firstRow="1" firstCol="1" bandRow="1">
                <a:tableStyleId>{073A0DAA-6AF3-43AB-8588-CEC1D06C72B9}</a:tableStyleId>
              </a:tblPr>
              <a:tblGrid>
                <a:gridCol w="1174171">
                  <a:extLst>
                    <a:ext uri="{9D8B030D-6E8A-4147-A177-3AD203B41FA5}">
                      <a16:colId xmlns:a16="http://schemas.microsoft.com/office/drawing/2014/main" val="3118716308"/>
                    </a:ext>
                  </a:extLst>
                </a:gridCol>
                <a:gridCol w="1870364">
                  <a:extLst>
                    <a:ext uri="{9D8B030D-6E8A-4147-A177-3AD203B41FA5}">
                      <a16:colId xmlns:a16="http://schemas.microsoft.com/office/drawing/2014/main" val="3814526809"/>
                    </a:ext>
                  </a:extLst>
                </a:gridCol>
                <a:gridCol w="2173964">
                  <a:extLst>
                    <a:ext uri="{9D8B030D-6E8A-4147-A177-3AD203B41FA5}">
                      <a16:colId xmlns:a16="http://schemas.microsoft.com/office/drawing/2014/main" val="2510737259"/>
                    </a:ext>
                  </a:extLst>
                </a:gridCol>
                <a:gridCol w="1651967">
                  <a:extLst>
                    <a:ext uri="{9D8B030D-6E8A-4147-A177-3AD203B41FA5}">
                      <a16:colId xmlns:a16="http://schemas.microsoft.com/office/drawing/2014/main" val="3967355105"/>
                    </a:ext>
                  </a:extLst>
                </a:gridCol>
                <a:gridCol w="1651967">
                  <a:extLst>
                    <a:ext uri="{9D8B030D-6E8A-4147-A177-3AD203B41FA5}">
                      <a16:colId xmlns:a16="http://schemas.microsoft.com/office/drawing/2014/main" val="2014969850"/>
                    </a:ext>
                  </a:extLst>
                </a:gridCol>
                <a:gridCol w="1611862">
                  <a:extLst>
                    <a:ext uri="{9D8B030D-6E8A-4147-A177-3AD203B41FA5}">
                      <a16:colId xmlns:a16="http://schemas.microsoft.com/office/drawing/2014/main" val="3481261653"/>
                    </a:ext>
                  </a:extLst>
                </a:gridCol>
              </a:tblGrid>
              <a:tr h="560608">
                <a:tc>
                  <a:txBody>
                    <a:bodyPr/>
                    <a:lstStyle/>
                    <a:p>
                      <a:pPr algn="ctr">
                        <a:lnSpc>
                          <a:spcPct val="115000"/>
                        </a:lnSpc>
                        <a:spcAft>
                          <a:spcPts val="1000"/>
                        </a:spcAft>
                        <a:buNone/>
                      </a:pPr>
                      <a:r>
                        <a:rPr lang="en-US" sz="1200" dirty="0">
                          <a:effectLst/>
                        </a:rPr>
                        <a:t>Sr. No.</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gn="ctr">
                        <a:lnSpc>
                          <a:spcPct val="115000"/>
                        </a:lnSpc>
                        <a:spcAft>
                          <a:spcPts val="1000"/>
                        </a:spcAft>
                        <a:buNone/>
                      </a:pPr>
                      <a:r>
                        <a:rPr lang="en-US" sz="1200" dirty="0">
                          <a:effectLst/>
                        </a:rPr>
                        <a:t>Year and Author</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gn="ctr">
                        <a:lnSpc>
                          <a:spcPct val="115000"/>
                        </a:lnSpc>
                        <a:spcAft>
                          <a:spcPts val="1000"/>
                        </a:spcAft>
                        <a:buNone/>
                      </a:pPr>
                      <a:r>
                        <a:rPr lang="en-US" sz="1200">
                          <a:effectLst/>
                        </a:rPr>
                        <a:t>Title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gn="ctr">
                        <a:lnSpc>
                          <a:spcPct val="115000"/>
                        </a:lnSpc>
                        <a:spcAft>
                          <a:spcPts val="1000"/>
                        </a:spcAft>
                        <a:buNone/>
                      </a:pPr>
                      <a:r>
                        <a:rPr lang="en-US" sz="1200">
                          <a:effectLst/>
                        </a:rPr>
                        <a:t>Finding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gn="ctr">
                        <a:lnSpc>
                          <a:spcPct val="115000"/>
                        </a:lnSpc>
                        <a:spcAft>
                          <a:spcPts val="1000"/>
                        </a:spcAft>
                        <a:buNone/>
                      </a:pPr>
                      <a:r>
                        <a:rPr lang="en-US" sz="1200">
                          <a:effectLst/>
                        </a:rPr>
                        <a:t>Limitation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gn="ctr">
                        <a:lnSpc>
                          <a:spcPct val="115000"/>
                        </a:lnSpc>
                        <a:spcAft>
                          <a:spcPts val="1000"/>
                        </a:spcAft>
                        <a:buNone/>
                      </a:pPr>
                      <a:r>
                        <a:rPr lang="en-US" sz="1200" dirty="0">
                          <a:effectLst/>
                        </a:rPr>
                        <a:t>Identified Gap</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extLst>
                  <a:ext uri="{0D108BD9-81ED-4DB2-BD59-A6C34878D82A}">
                    <a16:rowId xmlns:a16="http://schemas.microsoft.com/office/drawing/2014/main" val="2072161886"/>
                  </a:ext>
                </a:extLst>
              </a:tr>
              <a:tr h="1368985">
                <a:tc>
                  <a:txBody>
                    <a:bodyPr/>
                    <a:lstStyle/>
                    <a:p>
                      <a:pPr>
                        <a:lnSpc>
                          <a:spcPct val="115000"/>
                        </a:lnSpc>
                        <a:spcAft>
                          <a:spcPts val="1000"/>
                        </a:spcAft>
                        <a:buNone/>
                      </a:pPr>
                      <a:r>
                        <a:rPr lang="en-US" sz="1200" dirty="0">
                          <a:effectLst/>
                        </a:rPr>
                        <a:t>1.</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a:effectLst/>
                        </a:rPr>
                        <a:t>2011-</a:t>
                      </a:r>
                      <a:endParaRPr lang="en-IN" sz="1200">
                        <a:effectLst/>
                      </a:endParaRPr>
                    </a:p>
                    <a:p>
                      <a:pPr>
                        <a:lnSpc>
                          <a:spcPct val="115000"/>
                        </a:lnSpc>
                        <a:spcAft>
                          <a:spcPts val="1000"/>
                        </a:spcAft>
                        <a:buNone/>
                      </a:pPr>
                      <a:r>
                        <a:rPr lang="en-US" sz="1200">
                          <a:effectLst/>
                        </a:rPr>
                        <a:t>Awoyelu IO</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a:effectLst/>
                        </a:rPr>
                        <a:t>A Web-Based Repository with Web Forum for Undergraduates’ Final Year Projects in Higher Educational Institutions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a:effectLst/>
                        </a:rPr>
                        <a:t>Developed a repository for storing final-year projects with a web forum for student collaboration.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a:effectLst/>
                        </a:rPr>
                        <a:t>No structured project evaluation or feedback system.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dirty="0">
                          <a:effectLst/>
                        </a:rPr>
                        <a:t>Lacks project evaluation, refinement, and team management like </a:t>
                      </a:r>
                      <a:r>
                        <a:rPr lang="en-US" sz="1200" dirty="0" err="1">
                          <a:effectLst/>
                        </a:rPr>
                        <a:t>ThesisIT</a:t>
                      </a:r>
                      <a:r>
                        <a:rPr lang="en-US" sz="1200" dirty="0">
                          <a:effectLst/>
                        </a:rPr>
                        <a:t>.</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extLst>
                  <a:ext uri="{0D108BD9-81ED-4DB2-BD59-A6C34878D82A}">
                    <a16:rowId xmlns:a16="http://schemas.microsoft.com/office/drawing/2014/main" val="2483369076"/>
                  </a:ext>
                </a:extLst>
              </a:tr>
              <a:tr h="1566340">
                <a:tc>
                  <a:txBody>
                    <a:bodyPr/>
                    <a:lstStyle/>
                    <a:p>
                      <a:pPr>
                        <a:lnSpc>
                          <a:spcPct val="115000"/>
                        </a:lnSpc>
                        <a:spcAft>
                          <a:spcPts val="1000"/>
                        </a:spcAft>
                        <a:buNone/>
                      </a:pPr>
                      <a:r>
                        <a:rPr lang="en-US" sz="1200" dirty="0">
                          <a:effectLst/>
                        </a:rPr>
                        <a:t>2.</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a:effectLst/>
                        </a:rPr>
                        <a:t>2024-</a:t>
                      </a:r>
                      <a:endParaRPr lang="en-IN" sz="1200">
                        <a:effectLst/>
                      </a:endParaRPr>
                    </a:p>
                    <a:p>
                      <a:pPr>
                        <a:lnSpc>
                          <a:spcPct val="115000"/>
                        </a:lnSpc>
                        <a:spcAft>
                          <a:spcPts val="1000"/>
                        </a:spcAft>
                        <a:buNone/>
                      </a:pPr>
                      <a:r>
                        <a:rPr lang="en-US" sz="1200">
                          <a:effectLst/>
                        </a:rPr>
                        <a:t>Onwuegbuzie Innocent Uzougbo  and Adu Michael Kolade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a:effectLst/>
                        </a:rPr>
                        <a:t>Development of a Web-Based Final-Year Project Repository System (FYPRS) for Nigerian Tertiary Institutions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a:effectLst/>
                        </a:rPr>
                        <a:t>Developed a centralized platform for project submission, evaluation, and storage using Laravel.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a:effectLst/>
                        </a:rPr>
                        <a:t>No project refinement, no structured feedback system, and no team management.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dirty="0">
                          <a:effectLst/>
                        </a:rPr>
                        <a:t>Lacks project refinement, readable past projects, and team management, which </a:t>
                      </a:r>
                      <a:r>
                        <a:rPr lang="en-US" sz="1200" dirty="0" err="1">
                          <a:effectLst/>
                        </a:rPr>
                        <a:t>ThesisIT</a:t>
                      </a:r>
                      <a:r>
                        <a:rPr lang="en-US" sz="1200" dirty="0">
                          <a:effectLst/>
                        </a:rPr>
                        <a:t> includes.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extLst>
                  <a:ext uri="{0D108BD9-81ED-4DB2-BD59-A6C34878D82A}">
                    <a16:rowId xmlns:a16="http://schemas.microsoft.com/office/drawing/2014/main" val="4129153357"/>
                  </a:ext>
                </a:extLst>
              </a:tr>
              <a:tr h="1566340">
                <a:tc>
                  <a:txBody>
                    <a:bodyPr/>
                    <a:lstStyle/>
                    <a:p>
                      <a:pPr>
                        <a:lnSpc>
                          <a:spcPct val="115000"/>
                        </a:lnSpc>
                        <a:spcAft>
                          <a:spcPts val="1000"/>
                        </a:spcAft>
                        <a:buNone/>
                      </a:pPr>
                      <a:r>
                        <a:rPr lang="en-US" sz="120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a:effectLst/>
                        </a:rPr>
                        <a:t>2021-</a:t>
                      </a:r>
                      <a:endParaRPr lang="en-IN" sz="1200">
                        <a:effectLst/>
                      </a:endParaRPr>
                    </a:p>
                    <a:p>
                      <a:pPr>
                        <a:lnSpc>
                          <a:spcPct val="115000"/>
                        </a:lnSpc>
                        <a:spcAft>
                          <a:spcPts val="1000"/>
                        </a:spcAft>
                        <a:buNone/>
                      </a:pPr>
                      <a:r>
                        <a:rPr lang="en-US" sz="1200">
                          <a:effectLst/>
                        </a:rPr>
                        <a:t>Sci. Int. (Lahore)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a:effectLst/>
                        </a:rPr>
                        <a:t>Thesis Management System with Automated Defense Scheduling</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a:effectLst/>
                        </a:rPr>
                        <a:t>Introduced an automated system for thesis cycle tracking, including oral defense scheduling using a genetic algorithm.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a:effectLst/>
                        </a:rPr>
                        <a:t>Focused on scheduling rather than project submission, evaluation, and team collaboration.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dirty="0" err="1">
                          <a:effectLst/>
                        </a:rPr>
                        <a:t>ThesisIT</a:t>
                      </a:r>
                      <a:r>
                        <a:rPr lang="en-US" sz="1200" dirty="0">
                          <a:effectLst/>
                        </a:rPr>
                        <a:t> does not require automated scheduling but includes project evaluation, feedback, and access to past projects.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extLst>
                  <a:ext uri="{0D108BD9-81ED-4DB2-BD59-A6C34878D82A}">
                    <a16:rowId xmlns:a16="http://schemas.microsoft.com/office/drawing/2014/main" val="1963499836"/>
                  </a:ext>
                </a:extLst>
              </a:tr>
            </a:tbl>
          </a:graphicData>
        </a:graphic>
      </p:graphicFrame>
    </p:spTree>
    <p:extLst>
      <p:ext uri="{BB962C8B-B14F-4D97-AF65-F5344CB8AC3E}">
        <p14:creationId xmlns:p14="http://schemas.microsoft.com/office/powerpoint/2010/main" val="1246021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229630B-7BF6-61B1-6AAC-BA71F50283DD}"/>
              </a:ext>
            </a:extLst>
          </p:cNvPr>
          <p:cNvSpPr>
            <a:spLocks noGrp="1"/>
          </p:cNvSpPr>
          <p:nvPr>
            <p:ph type="ftr" sz="quarter" idx="28"/>
          </p:nvPr>
        </p:nvSpPr>
        <p:spPr/>
        <p:txBody>
          <a:bodyPr/>
          <a:lstStyle/>
          <a:p>
            <a:r>
              <a:rPr lang="en-US" dirty="0" err="1"/>
              <a:t>ThesisIT</a:t>
            </a:r>
            <a:endParaRPr lang="en-US" dirty="0"/>
          </a:p>
        </p:txBody>
      </p:sp>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graphicFrame>
        <p:nvGraphicFramePr>
          <p:cNvPr id="4" name="Table Placeholder 3">
            <a:extLst>
              <a:ext uri="{FF2B5EF4-FFF2-40B4-BE49-F238E27FC236}">
                <a16:creationId xmlns:a16="http://schemas.microsoft.com/office/drawing/2014/main" id="{3EA736CC-93FF-9E91-30CA-D9D8C59CDBDD}"/>
              </a:ext>
            </a:extLst>
          </p:cNvPr>
          <p:cNvGraphicFramePr>
            <a:graphicFrameLocks noGrp="1"/>
          </p:cNvGraphicFramePr>
          <p:nvPr>
            <p:ph type="tbl" sz="quarter" idx="27"/>
            <p:extLst>
              <p:ext uri="{D42A27DB-BD31-4B8C-83A1-F6EECF244321}">
                <p14:modId xmlns:p14="http://schemas.microsoft.com/office/powerpoint/2010/main" val="314501755"/>
              </p:ext>
            </p:extLst>
          </p:nvPr>
        </p:nvGraphicFramePr>
        <p:xfrm>
          <a:off x="1233053" y="1708005"/>
          <a:ext cx="9961115" cy="3217285"/>
        </p:xfrm>
        <a:graphic>
          <a:graphicData uri="http://schemas.openxmlformats.org/drawingml/2006/table">
            <a:tbl>
              <a:tblPr firstRow="1" firstCol="1" bandRow="1">
                <a:tableStyleId>{16D9F66E-5EB9-4882-86FB-DCBF35E3C3E4}</a:tableStyleId>
              </a:tblPr>
              <a:tblGrid>
                <a:gridCol w="1014559">
                  <a:extLst>
                    <a:ext uri="{9D8B030D-6E8A-4147-A177-3AD203B41FA5}">
                      <a16:colId xmlns:a16="http://schemas.microsoft.com/office/drawing/2014/main" val="2475010333"/>
                    </a:ext>
                  </a:extLst>
                </a:gridCol>
                <a:gridCol w="1766607">
                  <a:extLst>
                    <a:ext uri="{9D8B030D-6E8A-4147-A177-3AD203B41FA5}">
                      <a16:colId xmlns:a16="http://schemas.microsoft.com/office/drawing/2014/main" val="2289972047"/>
                    </a:ext>
                  </a:extLst>
                </a:gridCol>
                <a:gridCol w="2348156">
                  <a:extLst>
                    <a:ext uri="{9D8B030D-6E8A-4147-A177-3AD203B41FA5}">
                      <a16:colId xmlns:a16="http://schemas.microsoft.com/office/drawing/2014/main" val="1028438474"/>
                    </a:ext>
                  </a:extLst>
                </a:gridCol>
                <a:gridCol w="1623738">
                  <a:extLst>
                    <a:ext uri="{9D8B030D-6E8A-4147-A177-3AD203B41FA5}">
                      <a16:colId xmlns:a16="http://schemas.microsoft.com/office/drawing/2014/main" val="604077594"/>
                    </a:ext>
                  </a:extLst>
                </a:gridCol>
                <a:gridCol w="1623738">
                  <a:extLst>
                    <a:ext uri="{9D8B030D-6E8A-4147-A177-3AD203B41FA5}">
                      <a16:colId xmlns:a16="http://schemas.microsoft.com/office/drawing/2014/main" val="1034556281"/>
                    </a:ext>
                  </a:extLst>
                </a:gridCol>
                <a:gridCol w="1584317">
                  <a:extLst>
                    <a:ext uri="{9D8B030D-6E8A-4147-A177-3AD203B41FA5}">
                      <a16:colId xmlns:a16="http://schemas.microsoft.com/office/drawing/2014/main" val="1842610303"/>
                    </a:ext>
                  </a:extLst>
                </a:gridCol>
              </a:tblGrid>
              <a:tr h="1757050">
                <a:tc>
                  <a:txBody>
                    <a:bodyPr/>
                    <a:lstStyle/>
                    <a:p>
                      <a:pPr>
                        <a:lnSpc>
                          <a:spcPct val="115000"/>
                        </a:lnSpc>
                        <a:spcAft>
                          <a:spcPts val="1000"/>
                        </a:spcAft>
                        <a:buNone/>
                      </a:pPr>
                      <a:r>
                        <a:rPr lang="en-US" sz="1200" b="0" dirty="0">
                          <a:solidFill>
                            <a:schemeClr val="bg1"/>
                          </a:solidFill>
                          <a:effectLst/>
                          <a:latin typeface="Times New Roman" panose="02020603050405020304" pitchFamily="18" charset="0"/>
                          <a:cs typeface="Times New Roman" panose="02020603050405020304" pitchFamily="18" charset="0"/>
                        </a:rPr>
                        <a:t>4.</a:t>
                      </a:r>
                      <a:endParaRPr lang="en-IN" sz="12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solidFill>
                      <a:schemeClr val="tx1"/>
                    </a:solidFill>
                  </a:tcPr>
                </a:tc>
                <a:tc>
                  <a:txBody>
                    <a:bodyPr/>
                    <a:lstStyle/>
                    <a:p>
                      <a:pPr>
                        <a:lnSpc>
                          <a:spcPct val="115000"/>
                        </a:lnSpc>
                        <a:spcAft>
                          <a:spcPts val="1000"/>
                        </a:spcAft>
                        <a:buNone/>
                      </a:pPr>
                      <a:r>
                        <a:rPr lang="en-US" sz="1200" b="0">
                          <a:solidFill>
                            <a:schemeClr val="tx1"/>
                          </a:solidFill>
                          <a:effectLst/>
                          <a:latin typeface="Times New Roman" panose="02020603050405020304" pitchFamily="18" charset="0"/>
                          <a:cs typeface="Times New Roman" panose="02020603050405020304" pitchFamily="18" charset="0"/>
                        </a:rPr>
                        <a:t>2023-</a:t>
                      </a:r>
                      <a:endParaRPr lang="en-IN" sz="1200" b="0">
                        <a:solidFill>
                          <a:schemeClr val="tx1"/>
                        </a:solidFill>
                        <a:effectLst/>
                        <a:latin typeface="Times New Roman" panose="02020603050405020304" pitchFamily="18" charset="0"/>
                        <a:cs typeface="Times New Roman" panose="02020603050405020304" pitchFamily="18" charset="0"/>
                      </a:endParaRPr>
                    </a:p>
                    <a:p>
                      <a:pPr>
                        <a:lnSpc>
                          <a:spcPct val="115000"/>
                        </a:lnSpc>
                        <a:spcAft>
                          <a:spcPts val="1000"/>
                        </a:spcAft>
                        <a:buNone/>
                      </a:pPr>
                      <a:r>
                        <a:rPr lang="en-US" sz="1200" b="0">
                          <a:solidFill>
                            <a:schemeClr val="tx1"/>
                          </a:solidFill>
                          <a:effectLst/>
                          <a:latin typeface="Times New Roman" panose="02020603050405020304" pitchFamily="18" charset="0"/>
                          <a:cs typeface="Times New Roman" panose="02020603050405020304" pitchFamily="18" charset="0"/>
                        </a:rPr>
                        <a:t>XIPT Researchers</a:t>
                      </a:r>
                      <a:endParaRPr lang="en-IN" sz="1200" b="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b="0">
                          <a:solidFill>
                            <a:schemeClr val="tx1"/>
                          </a:solidFill>
                          <a:effectLst/>
                          <a:latin typeface="Times New Roman" panose="02020603050405020304" pitchFamily="18" charset="0"/>
                          <a:cs typeface="Times New Roman" panose="02020603050405020304" pitchFamily="18" charset="0"/>
                        </a:rPr>
                        <a:t>WebUPMS: A Web-Based Undergraduate Project Management System</a:t>
                      </a:r>
                      <a:endParaRPr lang="en-IN" sz="1200" b="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b="0">
                          <a:solidFill>
                            <a:schemeClr val="tx1"/>
                          </a:solidFill>
                          <a:effectLst/>
                          <a:latin typeface="Times New Roman" panose="02020603050405020304" pitchFamily="18" charset="0"/>
                          <a:cs typeface="Times New Roman" panose="02020603050405020304" pitchFamily="18" charset="0"/>
                        </a:rPr>
                        <a:t>A web-based system for project submission, assessment, and grading with improved efficiency.</a:t>
                      </a:r>
                      <a:endParaRPr lang="en-IN" sz="1200" b="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b="0">
                          <a:solidFill>
                            <a:schemeClr val="tx1"/>
                          </a:solidFill>
                          <a:effectLst/>
                          <a:latin typeface="Times New Roman" panose="02020603050405020304" pitchFamily="18" charset="0"/>
                          <a:cs typeface="Times New Roman" panose="02020603050405020304" pitchFamily="18" charset="0"/>
                        </a:rPr>
                        <a:t>No project refinement process or junior access to past projects.</a:t>
                      </a:r>
                      <a:endParaRPr lang="en-IN" sz="1200" b="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b="0" dirty="0">
                          <a:solidFill>
                            <a:schemeClr val="tx1"/>
                          </a:solidFill>
                          <a:effectLst/>
                          <a:latin typeface="Times New Roman" panose="02020603050405020304" pitchFamily="18" charset="0"/>
                          <a:cs typeface="Times New Roman" panose="02020603050405020304" pitchFamily="18" charset="0"/>
                        </a:rPr>
                        <a:t>Lacks project refinement, structured feedback system, and team management, which </a:t>
                      </a:r>
                      <a:r>
                        <a:rPr lang="en-US" sz="1200" b="0" dirty="0" err="1">
                          <a:solidFill>
                            <a:schemeClr val="tx1"/>
                          </a:solidFill>
                          <a:effectLst/>
                          <a:latin typeface="Times New Roman" panose="02020603050405020304" pitchFamily="18" charset="0"/>
                          <a:cs typeface="Times New Roman" panose="02020603050405020304" pitchFamily="18" charset="0"/>
                        </a:rPr>
                        <a:t>ThesisIT</a:t>
                      </a:r>
                      <a:r>
                        <a:rPr lang="en-US" sz="1200" b="0" dirty="0">
                          <a:solidFill>
                            <a:schemeClr val="tx1"/>
                          </a:solidFill>
                          <a:effectLst/>
                          <a:latin typeface="Times New Roman" panose="02020603050405020304" pitchFamily="18" charset="0"/>
                          <a:cs typeface="Times New Roman" panose="02020603050405020304" pitchFamily="18" charset="0"/>
                        </a:rPr>
                        <a:t> provides.</a:t>
                      </a:r>
                      <a:endParaRPr lang="en-IN" sz="12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extLst>
                  <a:ext uri="{0D108BD9-81ED-4DB2-BD59-A6C34878D82A}">
                    <a16:rowId xmlns:a16="http://schemas.microsoft.com/office/drawing/2014/main" val="483712191"/>
                  </a:ext>
                </a:extLst>
              </a:tr>
              <a:tr h="1460235">
                <a:tc>
                  <a:txBody>
                    <a:bodyPr/>
                    <a:lstStyle/>
                    <a:p>
                      <a:pPr>
                        <a:lnSpc>
                          <a:spcPct val="115000"/>
                        </a:lnSpc>
                        <a:spcAft>
                          <a:spcPts val="1000"/>
                        </a:spcAft>
                        <a:buNone/>
                      </a:pPr>
                      <a:r>
                        <a:rPr lang="en-US" sz="1200" dirty="0">
                          <a:solidFill>
                            <a:schemeClr val="bg1"/>
                          </a:solidFill>
                          <a:effectLst/>
                          <a:latin typeface="Times New Roman" panose="02020603050405020304" pitchFamily="18" charset="0"/>
                          <a:cs typeface="Times New Roman" panose="02020603050405020304" pitchFamily="18" charset="0"/>
                        </a:rPr>
                        <a:t>5.</a:t>
                      </a:r>
                      <a:endParaRPr lang="en-IN" sz="1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solidFill>
                      <a:schemeClr val="tx1"/>
                    </a:solidFill>
                  </a:tcPr>
                </a:tc>
                <a:tc>
                  <a:txBody>
                    <a:bodyPr/>
                    <a:lstStyle/>
                    <a:p>
                      <a:pPr>
                        <a:lnSpc>
                          <a:spcPct val="115000"/>
                        </a:lnSpc>
                        <a:spcAft>
                          <a:spcPts val="1000"/>
                        </a:spcAft>
                        <a:buNone/>
                      </a:pPr>
                      <a:r>
                        <a:rPr lang="en-US" sz="1200">
                          <a:solidFill>
                            <a:schemeClr val="tx1"/>
                          </a:solidFill>
                          <a:effectLst/>
                          <a:latin typeface="Times New Roman" panose="02020603050405020304" pitchFamily="18" charset="0"/>
                          <a:cs typeface="Times New Roman" panose="02020603050405020304" pitchFamily="18" charset="0"/>
                        </a:rPr>
                        <a:t>2024-</a:t>
                      </a:r>
                      <a:endParaRPr lang="en-IN" sz="1200">
                        <a:solidFill>
                          <a:schemeClr val="tx1"/>
                        </a:solidFill>
                        <a:effectLst/>
                        <a:latin typeface="Times New Roman" panose="02020603050405020304" pitchFamily="18" charset="0"/>
                        <a:cs typeface="Times New Roman" panose="02020603050405020304" pitchFamily="18" charset="0"/>
                      </a:endParaRPr>
                    </a:p>
                    <a:p>
                      <a:pPr>
                        <a:lnSpc>
                          <a:spcPct val="115000"/>
                        </a:lnSpc>
                        <a:spcAft>
                          <a:spcPts val="1000"/>
                        </a:spcAft>
                        <a:buNone/>
                      </a:pPr>
                      <a:r>
                        <a:rPr lang="en-US" sz="1200">
                          <a:solidFill>
                            <a:schemeClr val="tx1"/>
                          </a:solidFill>
                          <a:effectLst/>
                          <a:latin typeface="Times New Roman" panose="02020603050405020304" pitchFamily="18" charset="0"/>
                          <a:cs typeface="Times New Roman" panose="02020603050405020304" pitchFamily="18" charset="0"/>
                        </a:rPr>
                        <a:t>TetFund Researchers</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a:solidFill>
                            <a:schemeClr val="tx1"/>
                          </a:solidFill>
                          <a:effectLst/>
                          <a:latin typeface="Times New Roman" panose="02020603050405020304" pitchFamily="18" charset="0"/>
                          <a:cs typeface="Times New Roman" panose="02020603050405020304" pitchFamily="18" charset="0"/>
                        </a:rPr>
                        <a:t>Web-Based Student Project Management System</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a:solidFill>
                            <a:schemeClr val="tx1"/>
                          </a:solidFill>
                          <a:effectLst/>
                          <a:latin typeface="Times New Roman" panose="02020603050405020304" pitchFamily="18" charset="0"/>
                          <a:cs typeface="Times New Roman" panose="02020603050405020304" pitchFamily="18" charset="0"/>
                        </a:rPr>
                        <a:t>Automates project selection, supervision, evaluation, and storage while preventing duplication.</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a:solidFill>
                            <a:schemeClr val="tx1"/>
                          </a:solidFill>
                          <a:effectLst/>
                          <a:latin typeface="Times New Roman" panose="02020603050405020304" pitchFamily="18" charset="0"/>
                          <a:cs typeface="Times New Roman" panose="02020603050405020304" pitchFamily="18" charset="0"/>
                        </a:rPr>
                        <a:t>Lacks team management, project refinement, and access to past projects for learning.</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tc>
                  <a:txBody>
                    <a:bodyPr/>
                    <a:lstStyle/>
                    <a:p>
                      <a:pPr>
                        <a:lnSpc>
                          <a:spcPct val="115000"/>
                        </a:lnSpc>
                        <a:spcAft>
                          <a:spcPts val="1000"/>
                        </a:spcAft>
                        <a:buNone/>
                      </a:pPr>
                      <a:r>
                        <a:rPr lang="en-US" sz="1200" dirty="0" err="1">
                          <a:solidFill>
                            <a:schemeClr val="tx1"/>
                          </a:solidFill>
                          <a:effectLst/>
                          <a:latin typeface="Times New Roman" panose="02020603050405020304" pitchFamily="18" charset="0"/>
                          <a:cs typeface="Times New Roman" panose="02020603050405020304" pitchFamily="18" charset="0"/>
                        </a:rPr>
                        <a:t>ThesisIT</a:t>
                      </a:r>
                      <a:r>
                        <a:rPr lang="en-US" sz="1200" dirty="0">
                          <a:solidFill>
                            <a:schemeClr val="tx1"/>
                          </a:solidFill>
                          <a:effectLst/>
                          <a:latin typeface="Times New Roman" panose="02020603050405020304" pitchFamily="18" charset="0"/>
                          <a:cs typeface="Times New Roman" panose="02020603050405020304" pitchFamily="18" charset="0"/>
                        </a:rPr>
                        <a:t> enhances project quality through evaluation, refinement, and accessible past projects.</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696" marR="41696" marT="0" marB="0"/>
                </a:tc>
                <a:extLst>
                  <a:ext uri="{0D108BD9-81ED-4DB2-BD59-A6C34878D82A}">
                    <a16:rowId xmlns:a16="http://schemas.microsoft.com/office/drawing/2014/main" val="1735072975"/>
                  </a:ext>
                </a:extLst>
              </a:tr>
            </a:tbl>
          </a:graphicData>
        </a:graphic>
      </p:graphicFrame>
    </p:spTree>
    <p:extLst>
      <p:ext uri="{BB962C8B-B14F-4D97-AF65-F5344CB8AC3E}">
        <p14:creationId xmlns:p14="http://schemas.microsoft.com/office/powerpoint/2010/main" val="3130062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AC6C8AA-130E-367E-2D0E-053EFE785EFC}"/>
              </a:ext>
            </a:extLst>
          </p:cNvPr>
          <p:cNvSpPr>
            <a:spLocks noGrp="1"/>
          </p:cNvSpPr>
          <p:nvPr>
            <p:ph type="ftr" sz="quarter" idx="28"/>
          </p:nvPr>
        </p:nvSpPr>
        <p:spPr/>
        <p:txBody>
          <a:bodyPr/>
          <a:lstStyle/>
          <a:p>
            <a:r>
              <a:rPr lang="en-US" dirty="0" err="1"/>
              <a:t>ThesisIT</a:t>
            </a:r>
            <a:endParaRPr lang="en-US" noProof="0" dirty="0"/>
          </a:p>
        </p:txBody>
      </p:sp>
      <p:sp>
        <p:nvSpPr>
          <p:cNvPr id="6" name="TextBox 5">
            <a:extLst>
              <a:ext uri="{FF2B5EF4-FFF2-40B4-BE49-F238E27FC236}">
                <a16:creationId xmlns:a16="http://schemas.microsoft.com/office/drawing/2014/main" id="{5C3B8AD5-BDD7-130C-38F2-5DA6CCB02B95}"/>
              </a:ext>
            </a:extLst>
          </p:cNvPr>
          <p:cNvSpPr txBox="1"/>
          <p:nvPr/>
        </p:nvSpPr>
        <p:spPr>
          <a:xfrm>
            <a:off x="3077497" y="334297"/>
            <a:ext cx="6007509" cy="584775"/>
          </a:xfrm>
          <a:prstGeom prst="rect">
            <a:avLst/>
          </a:prstGeom>
        </p:spPr>
        <p:txBody>
          <a:bodyPr wrap="square" rtlCol="0">
            <a:spAutoFit/>
          </a:bodyPr>
          <a:lstStyle/>
          <a:p>
            <a:pPr marL="0" indent="0" algn="ctr">
              <a:lnSpc>
                <a:spcPct val="100000"/>
              </a:lnSpc>
              <a:spcBef>
                <a:spcPts val="0"/>
              </a:spcBef>
              <a:buFontTx/>
              <a:buNone/>
            </a:pPr>
            <a:r>
              <a:rPr lang="en-IN" sz="3200" b="1" dirty="0">
                <a:solidFill>
                  <a:prstClr val="white"/>
                </a:solidFill>
                <a:latin typeface="Posterama Text Black (Headings)"/>
                <a:ea typeface="微软雅黑"/>
                <a:cs typeface="Posterama" panose="020B0504020200020000" pitchFamily="34" charset="0"/>
              </a:rPr>
              <a:t>Project Progress</a:t>
            </a:r>
          </a:p>
        </p:txBody>
      </p:sp>
      <p:sp>
        <p:nvSpPr>
          <p:cNvPr id="7" name="TextBox 6">
            <a:extLst>
              <a:ext uri="{FF2B5EF4-FFF2-40B4-BE49-F238E27FC236}">
                <a16:creationId xmlns:a16="http://schemas.microsoft.com/office/drawing/2014/main" id="{B7A7293C-0CFB-7A4F-C7C9-9113B0CA13D7}"/>
              </a:ext>
            </a:extLst>
          </p:cNvPr>
          <p:cNvSpPr txBox="1"/>
          <p:nvPr/>
        </p:nvSpPr>
        <p:spPr>
          <a:xfrm>
            <a:off x="648929" y="1573161"/>
            <a:ext cx="9202994" cy="3508653"/>
          </a:xfrm>
          <a:prstGeom prst="rect">
            <a:avLst/>
          </a:prstGeom>
        </p:spPr>
        <p:txBody>
          <a:bodyPr wrap="square" rtlCol="0">
            <a:spAutoFit/>
          </a:bodyPr>
          <a:lstStyle/>
          <a:p>
            <a:pPr algn="l"/>
            <a:r>
              <a:rPr lang="en-US" sz="2400" b="1" i="0" dirty="0">
                <a:solidFill>
                  <a:schemeClr val="bg1"/>
                </a:solidFill>
                <a:effectLst/>
                <a:latin typeface="Ginto"/>
              </a:rPr>
              <a:t>1. </a:t>
            </a:r>
            <a:r>
              <a:rPr lang="en-US" sz="2400" b="1" i="0" dirty="0">
                <a:solidFill>
                  <a:schemeClr val="bg1"/>
                </a:solidFill>
                <a:effectLst/>
                <a:latin typeface="Cambria Math" panose="02040503050406030204" pitchFamily="18" charset="0"/>
                <a:ea typeface="Cambria Math" panose="02040503050406030204" pitchFamily="18" charset="0"/>
              </a:rPr>
              <a:t>Design Phase</a:t>
            </a:r>
          </a:p>
          <a:p>
            <a:pPr algn="l"/>
            <a:endParaRPr lang="en-US" sz="2000" b="1" dirty="0">
              <a:solidFill>
                <a:schemeClr val="bg1"/>
              </a:solidFill>
              <a:latin typeface="Cambria Math" panose="02040503050406030204" pitchFamily="18" charset="0"/>
              <a:ea typeface="Cambria Math" panose="02040503050406030204" pitchFamily="18" charset="0"/>
            </a:endParaRPr>
          </a:p>
          <a:p>
            <a:pPr marL="342900" indent="-342900" algn="l">
              <a:buFont typeface="Wingdings" panose="05000000000000000000" pitchFamily="2" charset="2"/>
              <a:buChar char="Ø"/>
            </a:pPr>
            <a:r>
              <a:rPr lang="en-US" sz="2000" b="1" i="0" dirty="0">
                <a:solidFill>
                  <a:schemeClr val="bg1"/>
                </a:solidFill>
                <a:effectLst/>
                <a:latin typeface="Cambria Math" panose="02040503050406030204" pitchFamily="18" charset="0"/>
                <a:ea typeface="Cambria Math" panose="02040503050406030204" pitchFamily="18" charset="0"/>
              </a:rPr>
              <a:t>Objective:</a:t>
            </a:r>
          </a:p>
          <a:p>
            <a:pPr algn="l"/>
            <a:r>
              <a:rPr lang="en-US" sz="2000" b="0" i="0" dirty="0">
                <a:solidFill>
                  <a:schemeClr val="bg1"/>
                </a:solidFill>
                <a:effectLst/>
                <a:latin typeface="Cambria Math" panose="02040503050406030204" pitchFamily="18" charset="0"/>
                <a:ea typeface="Cambria Math" panose="02040503050406030204" pitchFamily="18" charset="0"/>
              </a:rPr>
              <a:t>Laid the foundation for </a:t>
            </a:r>
            <a:r>
              <a:rPr lang="en-US" sz="2000" b="0" i="0" dirty="0" err="1">
                <a:solidFill>
                  <a:schemeClr val="bg1"/>
                </a:solidFill>
                <a:effectLst/>
                <a:latin typeface="Cambria Math" panose="02040503050406030204" pitchFamily="18" charset="0"/>
                <a:ea typeface="Cambria Math" panose="02040503050406030204" pitchFamily="18" charset="0"/>
              </a:rPr>
              <a:t>ThesisIT</a:t>
            </a:r>
            <a:r>
              <a:rPr lang="en-US" sz="2000" b="0" i="0" dirty="0">
                <a:solidFill>
                  <a:schemeClr val="bg1"/>
                </a:solidFill>
                <a:effectLst/>
                <a:latin typeface="Cambria Math" panose="02040503050406030204" pitchFamily="18" charset="0"/>
                <a:ea typeface="Cambria Math" panose="02040503050406030204" pitchFamily="18" charset="0"/>
              </a:rPr>
              <a:t> with a clear, user-friendly design.</a:t>
            </a:r>
          </a:p>
          <a:p>
            <a:pPr algn="l"/>
            <a:endParaRPr lang="en-US" sz="2000" b="0" i="0" dirty="0">
              <a:solidFill>
                <a:schemeClr val="bg1"/>
              </a:solidFill>
              <a:effectLst/>
              <a:latin typeface="Cambria Math" panose="02040503050406030204" pitchFamily="18" charset="0"/>
              <a:ea typeface="Cambria Math" panose="02040503050406030204" pitchFamily="18" charset="0"/>
            </a:endParaRPr>
          </a:p>
          <a:p>
            <a:pPr marL="342900" indent="-342900" algn="l">
              <a:buFont typeface="Wingdings" panose="05000000000000000000" pitchFamily="2" charset="2"/>
              <a:buChar char="Ø"/>
            </a:pPr>
            <a:r>
              <a:rPr lang="en-US" sz="2000" b="1" i="0" dirty="0">
                <a:solidFill>
                  <a:schemeClr val="bg1"/>
                </a:solidFill>
                <a:effectLst/>
                <a:latin typeface="Cambria Math" panose="02040503050406030204" pitchFamily="18" charset="0"/>
                <a:ea typeface="Cambria Math" panose="02040503050406030204" pitchFamily="18" charset="0"/>
              </a:rPr>
              <a:t>Tasks Completed:</a:t>
            </a:r>
          </a:p>
          <a:p>
            <a:pPr algn="l">
              <a:buFont typeface="Arial" panose="020B0604020202020204" pitchFamily="34" charset="0"/>
              <a:buChar char="•"/>
            </a:pPr>
            <a:r>
              <a:rPr lang="en-US" sz="2000" b="1" i="0" dirty="0">
                <a:solidFill>
                  <a:schemeClr val="bg1"/>
                </a:solidFill>
                <a:effectLst/>
                <a:latin typeface="Cambria Math" panose="02040503050406030204" pitchFamily="18" charset="0"/>
                <a:ea typeface="Cambria Math" panose="02040503050406030204" pitchFamily="18" charset="0"/>
              </a:rPr>
              <a:t>Tools Used</a:t>
            </a:r>
            <a:r>
              <a:rPr lang="en-US" sz="2000" b="0" i="0" dirty="0">
                <a:solidFill>
                  <a:schemeClr val="bg1"/>
                </a:solidFill>
                <a:effectLst/>
                <a:latin typeface="Cambria Math" panose="02040503050406030204" pitchFamily="18" charset="0"/>
                <a:ea typeface="Cambria Math" panose="02040503050406030204" pitchFamily="18" charset="0"/>
              </a:rPr>
              <a:t>: Utilized Figma to create wireframes and prototypes.</a:t>
            </a:r>
          </a:p>
          <a:p>
            <a:pPr algn="l">
              <a:buFont typeface="Arial" panose="020B0604020202020204" pitchFamily="34" charset="0"/>
              <a:buChar char="•"/>
            </a:pPr>
            <a:r>
              <a:rPr lang="en-US" sz="2000" b="1" i="0" dirty="0">
                <a:solidFill>
                  <a:schemeClr val="bg1"/>
                </a:solidFill>
                <a:effectLst/>
                <a:latin typeface="Cambria Math" panose="02040503050406030204" pitchFamily="18" charset="0"/>
                <a:ea typeface="Cambria Math" panose="02040503050406030204" pitchFamily="18" charset="0"/>
              </a:rPr>
              <a:t>Outcomes</a:t>
            </a:r>
            <a:r>
              <a:rPr lang="en-US" sz="2000" b="0" i="0" dirty="0">
                <a:solidFill>
                  <a:schemeClr val="bg1"/>
                </a:solidFill>
                <a:effectLst/>
                <a:latin typeface="Cambria Math" panose="02040503050406030204" pitchFamily="18" charset="0"/>
                <a:ea typeface="Cambria Math" panose="02040503050406030204" pitchFamily="18" charset="0"/>
              </a:rPr>
              <a:t>:</a:t>
            </a:r>
          </a:p>
          <a:p>
            <a:pPr marL="742950" lvl="1" indent="-285750" algn="l">
              <a:buFont typeface="Arial" panose="020B0604020202020204" pitchFamily="34" charset="0"/>
              <a:buChar char="•"/>
            </a:pPr>
            <a:r>
              <a:rPr lang="en-US" sz="2000" b="0" i="0" dirty="0">
                <a:solidFill>
                  <a:schemeClr val="bg1"/>
                </a:solidFill>
                <a:effectLst/>
                <a:latin typeface="Cambria Math" panose="02040503050406030204" pitchFamily="18" charset="0"/>
                <a:ea typeface="Cambria Math" panose="02040503050406030204" pitchFamily="18" charset="0"/>
              </a:rPr>
              <a:t>Developed comprehensive UI designs.</a:t>
            </a:r>
          </a:p>
          <a:p>
            <a:pPr marL="742950" lvl="1" indent="-285750" algn="l">
              <a:buFont typeface="Arial" panose="020B0604020202020204" pitchFamily="34" charset="0"/>
              <a:buChar char="•"/>
            </a:pPr>
            <a:r>
              <a:rPr lang="en-US" sz="2000" b="0" i="0" dirty="0">
                <a:solidFill>
                  <a:schemeClr val="bg1"/>
                </a:solidFill>
                <a:effectLst/>
                <a:latin typeface="Cambria Math" panose="02040503050406030204" pitchFamily="18" charset="0"/>
                <a:ea typeface="Cambria Math" panose="02040503050406030204" pitchFamily="18" charset="0"/>
              </a:rPr>
              <a:t>Established user flows to ensure intuitive navigation.</a:t>
            </a:r>
          </a:p>
          <a:p>
            <a:pPr marL="0" indent="0" algn="ctr">
              <a:lnSpc>
                <a:spcPct val="100000"/>
              </a:lnSpc>
              <a:spcBef>
                <a:spcPts val="0"/>
              </a:spcBef>
              <a:buFontTx/>
              <a:buNone/>
            </a:pPr>
            <a:endParaRPr lang="en-IN" sz="1800" dirty="0">
              <a:solidFill>
                <a:schemeClr val="bg1"/>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2542802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AC6C8AA-130E-367E-2D0E-053EFE785EFC}"/>
              </a:ext>
            </a:extLst>
          </p:cNvPr>
          <p:cNvSpPr>
            <a:spLocks noGrp="1"/>
          </p:cNvSpPr>
          <p:nvPr>
            <p:ph type="ftr" sz="quarter" idx="28"/>
          </p:nvPr>
        </p:nvSpPr>
        <p:spPr/>
        <p:txBody>
          <a:bodyPr/>
          <a:lstStyle/>
          <a:p>
            <a:r>
              <a:rPr lang="en-US" noProof="0" dirty="0" err="1"/>
              <a:t>Thesisit</a:t>
            </a:r>
            <a:endParaRPr lang="en-US" noProof="0" dirty="0"/>
          </a:p>
        </p:txBody>
      </p:sp>
      <p:sp>
        <p:nvSpPr>
          <p:cNvPr id="6" name="TextBox 5">
            <a:extLst>
              <a:ext uri="{FF2B5EF4-FFF2-40B4-BE49-F238E27FC236}">
                <a16:creationId xmlns:a16="http://schemas.microsoft.com/office/drawing/2014/main" id="{5C3B8AD5-BDD7-130C-38F2-5DA6CCB02B95}"/>
              </a:ext>
            </a:extLst>
          </p:cNvPr>
          <p:cNvSpPr txBox="1"/>
          <p:nvPr/>
        </p:nvSpPr>
        <p:spPr>
          <a:xfrm>
            <a:off x="3077497" y="334297"/>
            <a:ext cx="6007509" cy="584775"/>
          </a:xfrm>
          <a:prstGeom prst="rect">
            <a:avLst/>
          </a:prstGeom>
        </p:spPr>
        <p:txBody>
          <a:bodyPr wrap="square" rtlCol="0">
            <a:spAutoFit/>
          </a:bodyPr>
          <a:lstStyle/>
          <a:p>
            <a:pPr marL="0" indent="0" algn="ctr">
              <a:lnSpc>
                <a:spcPct val="100000"/>
              </a:lnSpc>
              <a:spcBef>
                <a:spcPts val="0"/>
              </a:spcBef>
              <a:buFontTx/>
              <a:buNone/>
            </a:pPr>
            <a:r>
              <a:rPr lang="en-IN" sz="3200" b="1" dirty="0">
                <a:solidFill>
                  <a:prstClr val="white"/>
                </a:solidFill>
                <a:latin typeface="Posterama Text Black (Headings)"/>
                <a:ea typeface="微软雅黑"/>
                <a:cs typeface="Posterama" panose="020B0504020200020000" pitchFamily="34" charset="0"/>
              </a:rPr>
              <a:t>Project Progress</a:t>
            </a:r>
          </a:p>
        </p:txBody>
      </p:sp>
      <p:sp>
        <p:nvSpPr>
          <p:cNvPr id="7" name="TextBox 6">
            <a:extLst>
              <a:ext uri="{FF2B5EF4-FFF2-40B4-BE49-F238E27FC236}">
                <a16:creationId xmlns:a16="http://schemas.microsoft.com/office/drawing/2014/main" id="{B7A7293C-0CFB-7A4F-C7C9-9113B0CA13D7}"/>
              </a:ext>
            </a:extLst>
          </p:cNvPr>
          <p:cNvSpPr txBox="1"/>
          <p:nvPr/>
        </p:nvSpPr>
        <p:spPr>
          <a:xfrm>
            <a:off x="648929" y="1573161"/>
            <a:ext cx="9202994" cy="4524315"/>
          </a:xfrm>
          <a:prstGeom prst="rect">
            <a:avLst/>
          </a:prstGeom>
        </p:spPr>
        <p:txBody>
          <a:bodyPr wrap="square" rtlCol="0">
            <a:spAutoFit/>
          </a:bodyPr>
          <a:lstStyle/>
          <a:p>
            <a:pPr algn="l"/>
            <a:r>
              <a:rPr lang="en-US" sz="2400" b="1" i="0" dirty="0">
                <a:solidFill>
                  <a:schemeClr val="bg1"/>
                </a:solidFill>
                <a:effectLst/>
                <a:latin typeface="Ginto"/>
              </a:rPr>
              <a:t>1.</a:t>
            </a:r>
            <a:r>
              <a:rPr lang="en-US" sz="2400" b="1" i="0" dirty="0">
                <a:solidFill>
                  <a:schemeClr val="bg1"/>
                </a:solidFill>
                <a:effectLst/>
                <a:latin typeface="Cambria Math" panose="02040503050406030204" pitchFamily="18" charset="0"/>
                <a:ea typeface="Cambria Math" panose="02040503050406030204" pitchFamily="18" charset="0"/>
              </a:rPr>
              <a:t>Frontend development Phase</a:t>
            </a:r>
          </a:p>
          <a:p>
            <a:pPr algn="l"/>
            <a:endParaRPr lang="en-US" sz="2000" b="1" dirty="0">
              <a:solidFill>
                <a:schemeClr val="bg1"/>
              </a:solidFill>
              <a:latin typeface="Cambria Math" panose="02040503050406030204" pitchFamily="18" charset="0"/>
              <a:ea typeface="Cambria Math" panose="02040503050406030204" pitchFamily="18" charset="0"/>
            </a:endParaRPr>
          </a:p>
          <a:p>
            <a:pPr marL="342900" indent="-342900" algn="l">
              <a:buFont typeface="Wingdings" panose="05000000000000000000" pitchFamily="2" charset="2"/>
              <a:buChar char="Ø"/>
            </a:pPr>
            <a:r>
              <a:rPr lang="en-US" sz="2000" b="1" i="0" dirty="0">
                <a:solidFill>
                  <a:schemeClr val="bg1"/>
                </a:solidFill>
                <a:effectLst/>
                <a:latin typeface="Cambria Math" panose="02040503050406030204" pitchFamily="18" charset="0"/>
                <a:ea typeface="Cambria Math" panose="02040503050406030204" pitchFamily="18" charset="0"/>
              </a:rPr>
              <a:t>Objective:</a:t>
            </a:r>
          </a:p>
          <a:p>
            <a:pPr algn="l"/>
            <a:r>
              <a:rPr lang="en-US" sz="2000" b="0" i="0" dirty="0">
                <a:solidFill>
                  <a:schemeClr val="bg1"/>
                </a:solidFill>
                <a:effectLst/>
                <a:latin typeface="Cambria Math" panose="02040503050406030204" pitchFamily="18" charset="0"/>
                <a:ea typeface="Cambria Math" panose="02040503050406030204" pitchFamily="18" charset="0"/>
              </a:rPr>
              <a:t>Translated design prototypes into a functional front-end for </a:t>
            </a:r>
            <a:r>
              <a:rPr lang="en-US" sz="2000" b="0" i="0" dirty="0" err="1">
                <a:solidFill>
                  <a:schemeClr val="bg1"/>
                </a:solidFill>
                <a:effectLst/>
                <a:latin typeface="Cambria Math" panose="02040503050406030204" pitchFamily="18" charset="0"/>
                <a:ea typeface="Cambria Math" panose="02040503050406030204" pitchFamily="18" charset="0"/>
              </a:rPr>
              <a:t>ThesisIT</a:t>
            </a:r>
            <a:r>
              <a:rPr lang="en-US" sz="2000" b="0" i="0" dirty="0">
                <a:solidFill>
                  <a:schemeClr val="bg1"/>
                </a:solidFill>
                <a:effectLst/>
                <a:latin typeface="Cambria Math" panose="02040503050406030204" pitchFamily="18" charset="0"/>
                <a:ea typeface="Cambria Math" panose="02040503050406030204" pitchFamily="18" charset="0"/>
              </a:rPr>
              <a:t>.</a:t>
            </a:r>
          </a:p>
          <a:p>
            <a:pPr algn="l"/>
            <a:endParaRPr lang="en-US" sz="2000" b="1" i="0" dirty="0">
              <a:solidFill>
                <a:schemeClr val="bg1"/>
              </a:solidFill>
              <a:effectLst/>
              <a:latin typeface="Cambria Math" panose="02040503050406030204" pitchFamily="18" charset="0"/>
              <a:ea typeface="Cambria Math" panose="02040503050406030204" pitchFamily="18" charset="0"/>
            </a:endParaRPr>
          </a:p>
          <a:p>
            <a:pPr marL="342900" indent="-342900" algn="l">
              <a:buFont typeface="Wingdings" panose="05000000000000000000" pitchFamily="2" charset="2"/>
              <a:buChar char="Ø"/>
            </a:pPr>
            <a:r>
              <a:rPr lang="en-US" sz="2000" b="1" i="0" dirty="0">
                <a:solidFill>
                  <a:schemeClr val="bg1"/>
                </a:solidFill>
                <a:effectLst/>
                <a:latin typeface="Cambria Math" panose="02040503050406030204" pitchFamily="18" charset="0"/>
                <a:ea typeface="Cambria Math" panose="02040503050406030204" pitchFamily="18" charset="0"/>
              </a:rPr>
              <a:t>Tasks Completed:</a:t>
            </a:r>
          </a:p>
          <a:p>
            <a:pPr algn="l">
              <a:buFont typeface="Arial" panose="020B0604020202020204" pitchFamily="34" charset="0"/>
              <a:buChar char="•"/>
            </a:pPr>
            <a:r>
              <a:rPr lang="en-US" b="1" i="0" dirty="0">
                <a:solidFill>
                  <a:schemeClr val="bg1"/>
                </a:solidFill>
                <a:effectLst/>
                <a:latin typeface="Cambria Math" panose="02040503050406030204" pitchFamily="18" charset="0"/>
                <a:ea typeface="Cambria Math" panose="02040503050406030204" pitchFamily="18" charset="0"/>
              </a:rPr>
              <a:t>Technologies Used</a:t>
            </a:r>
            <a:r>
              <a:rPr lang="en-US" b="0" i="0" dirty="0">
                <a:solidFill>
                  <a:schemeClr val="bg1"/>
                </a:solidFill>
                <a:effectLst/>
                <a:latin typeface="Cambria Math" panose="02040503050406030204" pitchFamily="18" charset="0"/>
                <a:ea typeface="Cambria Math" panose="02040503050406030204" pitchFamily="18" charset="0"/>
              </a:rPr>
              <a:t>: HTML, CSS, JavaScript.</a:t>
            </a:r>
          </a:p>
          <a:p>
            <a:pPr algn="l">
              <a:buFont typeface="Arial" panose="020B0604020202020204" pitchFamily="34" charset="0"/>
              <a:buChar char="•"/>
            </a:pPr>
            <a:r>
              <a:rPr lang="en-US" b="1" i="0" dirty="0">
                <a:solidFill>
                  <a:schemeClr val="bg1"/>
                </a:solidFill>
                <a:effectLst/>
                <a:latin typeface="Cambria Math" panose="02040503050406030204" pitchFamily="18" charset="0"/>
                <a:ea typeface="Cambria Math" panose="02040503050406030204" pitchFamily="18" charset="0"/>
              </a:rPr>
              <a:t>Implemented Features</a:t>
            </a:r>
            <a:r>
              <a:rPr lang="en-US" b="0" i="0" dirty="0">
                <a:solidFill>
                  <a:schemeClr val="bg1"/>
                </a:solidFill>
                <a:effectLst/>
                <a:latin typeface="Cambria Math" panose="02040503050406030204" pitchFamily="18" charset="0"/>
                <a:ea typeface="Cambria Math" panose="02040503050406030204" pitchFamily="18" charset="0"/>
              </a:rPr>
              <a:t>:</a:t>
            </a:r>
          </a:p>
          <a:p>
            <a:pPr marL="742950" lvl="1" indent="-285750" algn="l">
              <a:buFont typeface="Arial" panose="020B0604020202020204" pitchFamily="34" charset="0"/>
              <a:buChar char="•"/>
            </a:pPr>
            <a:r>
              <a:rPr lang="en-US" i="0" dirty="0">
                <a:solidFill>
                  <a:schemeClr val="bg1"/>
                </a:solidFill>
                <a:effectLst/>
                <a:latin typeface="Cambria Math" panose="02040503050406030204" pitchFamily="18" charset="0"/>
                <a:ea typeface="Cambria Math" panose="02040503050406030204" pitchFamily="18" charset="0"/>
              </a:rPr>
              <a:t>Homepage</a:t>
            </a:r>
          </a:p>
          <a:p>
            <a:pPr marL="742950" lvl="1" indent="-285750" algn="l">
              <a:buFont typeface="Arial" panose="020B0604020202020204" pitchFamily="34" charset="0"/>
              <a:buChar char="•"/>
            </a:pPr>
            <a:r>
              <a:rPr lang="en-US" i="0" dirty="0">
                <a:solidFill>
                  <a:schemeClr val="bg1"/>
                </a:solidFill>
                <a:effectLst/>
                <a:latin typeface="Cambria Math" panose="02040503050406030204" pitchFamily="18" charset="0"/>
                <a:ea typeface="Cambria Math" panose="02040503050406030204" pitchFamily="18" charset="0"/>
              </a:rPr>
              <a:t>Login and Authentication</a:t>
            </a:r>
          </a:p>
          <a:p>
            <a:pPr marL="742950" lvl="1" indent="-285750" algn="l">
              <a:buFont typeface="Arial" panose="020B0604020202020204" pitchFamily="34" charset="0"/>
              <a:buChar char="•"/>
            </a:pPr>
            <a:r>
              <a:rPr lang="en-US" i="0" dirty="0">
                <a:solidFill>
                  <a:schemeClr val="bg1"/>
                </a:solidFill>
                <a:effectLst/>
                <a:latin typeface="Cambria Math" panose="02040503050406030204" pitchFamily="18" charset="0"/>
                <a:ea typeface="Cambria Math" panose="02040503050406030204" pitchFamily="18" charset="0"/>
              </a:rPr>
              <a:t>Admin Dashboard</a:t>
            </a:r>
          </a:p>
          <a:p>
            <a:pPr marL="742950" lvl="1" indent="-285750" algn="l">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rPr>
              <a:t>Project Guide Dashboard</a:t>
            </a:r>
          </a:p>
          <a:p>
            <a:pPr marL="742950" lvl="1" indent="-285750" algn="l">
              <a:buFont typeface="Arial" panose="020B0604020202020204" pitchFamily="34" charset="0"/>
              <a:buChar char="•"/>
            </a:pPr>
            <a:r>
              <a:rPr lang="en-US" i="0" dirty="0">
                <a:solidFill>
                  <a:schemeClr val="bg1"/>
                </a:solidFill>
                <a:effectLst/>
                <a:latin typeface="Cambria Math" panose="02040503050406030204" pitchFamily="18" charset="0"/>
                <a:ea typeface="Cambria Math" panose="02040503050406030204" pitchFamily="18" charset="0"/>
              </a:rPr>
              <a:t>Student Dashboard</a:t>
            </a:r>
          </a:p>
          <a:p>
            <a:pPr lvl="1" algn="l"/>
            <a:endParaRPr lang="en-US" sz="2000" b="1" i="0" dirty="0">
              <a:solidFill>
                <a:schemeClr val="bg1"/>
              </a:solidFill>
              <a:effectLst/>
              <a:latin typeface="Cambria Math" panose="02040503050406030204" pitchFamily="18" charset="0"/>
              <a:ea typeface="Cambria Math" panose="02040503050406030204" pitchFamily="18" charset="0"/>
            </a:endParaRPr>
          </a:p>
          <a:p>
            <a:pPr marL="0" indent="0" algn="ctr">
              <a:lnSpc>
                <a:spcPct val="100000"/>
              </a:lnSpc>
              <a:spcBef>
                <a:spcPts val="0"/>
              </a:spcBef>
              <a:buFontTx/>
              <a:buNone/>
            </a:pPr>
            <a:endParaRPr lang="en-IN" sz="1800" dirty="0">
              <a:solidFill>
                <a:schemeClr val="bg1"/>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2646389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F1BE7-6882-6349-4BE3-E4A8FC9EF0A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11CF131A-F049-D56E-3E5C-79ED15200667}"/>
              </a:ext>
            </a:extLst>
          </p:cNvPr>
          <p:cNvSpPr>
            <a:spLocks noGrp="1"/>
          </p:cNvSpPr>
          <p:nvPr>
            <p:ph type="ftr" sz="quarter" idx="28"/>
          </p:nvPr>
        </p:nvSpPr>
        <p:spPr/>
        <p:txBody>
          <a:bodyPr/>
          <a:lstStyle/>
          <a:p>
            <a:r>
              <a:rPr lang="en-US" noProof="0" dirty="0" err="1"/>
              <a:t>Thesisit</a:t>
            </a:r>
            <a:endParaRPr lang="en-US" noProof="0" dirty="0"/>
          </a:p>
        </p:txBody>
      </p:sp>
      <p:sp>
        <p:nvSpPr>
          <p:cNvPr id="6" name="TextBox 5">
            <a:extLst>
              <a:ext uri="{FF2B5EF4-FFF2-40B4-BE49-F238E27FC236}">
                <a16:creationId xmlns:a16="http://schemas.microsoft.com/office/drawing/2014/main" id="{809F5643-BCFB-C05B-0EBE-ED9F4B07232B}"/>
              </a:ext>
            </a:extLst>
          </p:cNvPr>
          <p:cNvSpPr txBox="1"/>
          <p:nvPr/>
        </p:nvSpPr>
        <p:spPr>
          <a:xfrm>
            <a:off x="3077497" y="334297"/>
            <a:ext cx="6007509" cy="584775"/>
          </a:xfrm>
          <a:prstGeom prst="rect">
            <a:avLst/>
          </a:prstGeom>
        </p:spPr>
        <p:txBody>
          <a:bodyPr wrap="square" rtlCol="0">
            <a:spAutoFit/>
          </a:bodyPr>
          <a:lstStyle/>
          <a:p>
            <a:pPr marL="0" indent="0" algn="ctr">
              <a:lnSpc>
                <a:spcPct val="100000"/>
              </a:lnSpc>
              <a:spcBef>
                <a:spcPts val="0"/>
              </a:spcBef>
              <a:buFontTx/>
              <a:buNone/>
            </a:pPr>
            <a:r>
              <a:rPr lang="en-IN" sz="3200" b="1" dirty="0">
                <a:solidFill>
                  <a:prstClr val="white"/>
                </a:solidFill>
                <a:latin typeface="Posterama Text Black (Headings)"/>
                <a:ea typeface="微软雅黑"/>
                <a:cs typeface="Posterama" panose="020B0504020200020000" pitchFamily="34" charset="0"/>
              </a:rPr>
              <a:t>Project Progress</a:t>
            </a:r>
          </a:p>
        </p:txBody>
      </p:sp>
      <p:sp>
        <p:nvSpPr>
          <p:cNvPr id="7" name="TextBox 6">
            <a:extLst>
              <a:ext uri="{FF2B5EF4-FFF2-40B4-BE49-F238E27FC236}">
                <a16:creationId xmlns:a16="http://schemas.microsoft.com/office/drawing/2014/main" id="{46CA468C-BBBA-19AD-D595-FB8B8610B47B}"/>
              </a:ext>
            </a:extLst>
          </p:cNvPr>
          <p:cNvSpPr txBox="1"/>
          <p:nvPr/>
        </p:nvSpPr>
        <p:spPr>
          <a:xfrm>
            <a:off x="648929" y="1573161"/>
            <a:ext cx="9202994" cy="4524315"/>
          </a:xfrm>
          <a:prstGeom prst="rect">
            <a:avLst/>
          </a:prstGeom>
        </p:spPr>
        <p:txBody>
          <a:bodyPr wrap="square" rtlCol="0">
            <a:spAutoFit/>
          </a:bodyPr>
          <a:lstStyle/>
          <a:p>
            <a:pPr algn="l"/>
            <a:r>
              <a:rPr lang="en-US" sz="2400" b="1" i="0" dirty="0">
                <a:solidFill>
                  <a:schemeClr val="bg1"/>
                </a:solidFill>
                <a:effectLst/>
                <a:latin typeface="Ginto"/>
              </a:rPr>
              <a:t>1.</a:t>
            </a:r>
            <a:r>
              <a:rPr lang="en-US" sz="2400" b="1" dirty="0">
                <a:solidFill>
                  <a:schemeClr val="bg1"/>
                </a:solidFill>
                <a:latin typeface="Cambria Math" panose="02040503050406030204" pitchFamily="18" charset="0"/>
                <a:ea typeface="Cambria Math" panose="02040503050406030204" pitchFamily="18" charset="0"/>
              </a:rPr>
              <a:t>Back</a:t>
            </a:r>
            <a:r>
              <a:rPr lang="en-US" sz="2400" b="1" i="0" dirty="0">
                <a:solidFill>
                  <a:schemeClr val="bg1"/>
                </a:solidFill>
                <a:effectLst/>
                <a:latin typeface="Cambria Math" panose="02040503050406030204" pitchFamily="18" charset="0"/>
                <a:ea typeface="Cambria Math" panose="02040503050406030204" pitchFamily="18" charset="0"/>
              </a:rPr>
              <a:t>end development Phase</a:t>
            </a:r>
          </a:p>
          <a:p>
            <a:pPr algn="l"/>
            <a:endParaRPr lang="en-US" sz="2000" b="1" dirty="0">
              <a:solidFill>
                <a:schemeClr val="bg1"/>
              </a:solidFill>
              <a:latin typeface="Cambria Math" panose="02040503050406030204" pitchFamily="18" charset="0"/>
              <a:ea typeface="Cambria Math" panose="02040503050406030204" pitchFamily="18" charset="0"/>
            </a:endParaRPr>
          </a:p>
          <a:p>
            <a:pPr marL="342900" indent="-342900" algn="l">
              <a:buFont typeface="Wingdings" panose="05000000000000000000" pitchFamily="2" charset="2"/>
              <a:buChar char="Ø"/>
            </a:pPr>
            <a:r>
              <a:rPr lang="en-US" sz="2000" b="1" i="0" dirty="0">
                <a:solidFill>
                  <a:schemeClr val="bg1"/>
                </a:solidFill>
                <a:effectLst/>
                <a:latin typeface="Cambria Math" panose="02040503050406030204" pitchFamily="18" charset="0"/>
                <a:ea typeface="Cambria Math" panose="02040503050406030204" pitchFamily="18" charset="0"/>
              </a:rPr>
              <a:t>Objective:</a:t>
            </a:r>
          </a:p>
          <a:p>
            <a:pPr algn="l"/>
            <a:r>
              <a:rPr lang="en-US" sz="2000" dirty="0">
                <a:solidFill>
                  <a:schemeClr val="bg1"/>
                </a:solidFill>
                <a:latin typeface="Cambria Math" panose="02040503050406030204" pitchFamily="18" charset="0"/>
                <a:ea typeface="Cambria Math" panose="02040503050406030204" pitchFamily="18" charset="0"/>
              </a:rPr>
              <a:t>Working for </a:t>
            </a:r>
            <a:r>
              <a:rPr lang="en-US" sz="2000" b="0" i="0" dirty="0">
                <a:solidFill>
                  <a:schemeClr val="bg1"/>
                </a:solidFill>
                <a:effectLst/>
                <a:latin typeface="Cambria Math" panose="02040503050406030204" pitchFamily="18" charset="0"/>
                <a:ea typeface="Cambria Math" panose="02040503050406030204" pitchFamily="18" charset="0"/>
              </a:rPr>
              <a:t>a functional </a:t>
            </a:r>
            <a:r>
              <a:rPr lang="en-US" sz="2000" dirty="0">
                <a:solidFill>
                  <a:schemeClr val="bg1"/>
                </a:solidFill>
                <a:latin typeface="Cambria Math" panose="02040503050406030204" pitchFamily="18" charset="0"/>
                <a:ea typeface="Cambria Math" panose="02040503050406030204" pitchFamily="18" charset="0"/>
              </a:rPr>
              <a:t>backend</a:t>
            </a:r>
            <a:r>
              <a:rPr lang="en-US" sz="2000" b="0" i="0" dirty="0">
                <a:solidFill>
                  <a:schemeClr val="bg1"/>
                </a:solidFill>
                <a:effectLst/>
                <a:latin typeface="Cambria Math" panose="02040503050406030204" pitchFamily="18" charset="0"/>
                <a:ea typeface="Cambria Math" panose="02040503050406030204" pitchFamily="18" charset="0"/>
              </a:rPr>
              <a:t>-end for </a:t>
            </a:r>
            <a:r>
              <a:rPr lang="en-US" sz="2000" b="0" i="0" dirty="0" err="1">
                <a:solidFill>
                  <a:schemeClr val="bg1"/>
                </a:solidFill>
                <a:effectLst/>
                <a:latin typeface="Cambria Math" panose="02040503050406030204" pitchFamily="18" charset="0"/>
                <a:ea typeface="Cambria Math" panose="02040503050406030204" pitchFamily="18" charset="0"/>
              </a:rPr>
              <a:t>ThesisIT</a:t>
            </a:r>
            <a:r>
              <a:rPr lang="en-US" sz="2000" b="0" i="0" dirty="0">
                <a:solidFill>
                  <a:schemeClr val="bg1"/>
                </a:solidFill>
                <a:effectLst/>
                <a:latin typeface="Cambria Math" panose="02040503050406030204" pitchFamily="18" charset="0"/>
                <a:ea typeface="Cambria Math" panose="02040503050406030204" pitchFamily="18" charset="0"/>
              </a:rPr>
              <a:t>.</a:t>
            </a:r>
          </a:p>
          <a:p>
            <a:pPr algn="l"/>
            <a:endParaRPr lang="en-US" sz="2000" b="1" i="0" dirty="0">
              <a:solidFill>
                <a:schemeClr val="bg1"/>
              </a:solidFill>
              <a:effectLst/>
              <a:latin typeface="Cambria Math" panose="02040503050406030204" pitchFamily="18" charset="0"/>
              <a:ea typeface="Cambria Math" panose="02040503050406030204" pitchFamily="18" charset="0"/>
            </a:endParaRPr>
          </a:p>
          <a:p>
            <a:pPr marL="342900" indent="-342900" algn="l">
              <a:buFont typeface="Wingdings" panose="05000000000000000000" pitchFamily="2" charset="2"/>
              <a:buChar char="Ø"/>
            </a:pPr>
            <a:r>
              <a:rPr lang="en-US" sz="2000" b="1" i="0" dirty="0">
                <a:solidFill>
                  <a:schemeClr val="bg1"/>
                </a:solidFill>
                <a:effectLst/>
                <a:latin typeface="Cambria Math" panose="02040503050406030204" pitchFamily="18" charset="0"/>
                <a:ea typeface="Cambria Math" panose="02040503050406030204" pitchFamily="18" charset="0"/>
              </a:rPr>
              <a:t>Tasks Completed:</a:t>
            </a:r>
          </a:p>
          <a:p>
            <a:pPr algn="l">
              <a:buFont typeface="Arial" panose="020B0604020202020204" pitchFamily="34" charset="0"/>
              <a:buChar char="•"/>
            </a:pPr>
            <a:r>
              <a:rPr lang="en-US" b="1" i="0" dirty="0">
                <a:solidFill>
                  <a:schemeClr val="bg1"/>
                </a:solidFill>
                <a:effectLst/>
                <a:latin typeface="Cambria Math" panose="02040503050406030204" pitchFamily="18" charset="0"/>
                <a:ea typeface="Cambria Math" panose="02040503050406030204" pitchFamily="18" charset="0"/>
              </a:rPr>
              <a:t>Technologies Used</a:t>
            </a:r>
            <a:r>
              <a:rPr lang="en-US" b="0" i="0" dirty="0">
                <a:solidFill>
                  <a:schemeClr val="bg1"/>
                </a:solidFill>
                <a:effectLst/>
                <a:latin typeface="Cambria Math" panose="02040503050406030204" pitchFamily="18" charset="0"/>
                <a:ea typeface="Cambria Math" panose="02040503050406030204" pitchFamily="18" charset="0"/>
              </a:rPr>
              <a:t>: </a:t>
            </a:r>
            <a:r>
              <a:rPr lang="en-US" dirty="0">
                <a:solidFill>
                  <a:schemeClr val="bg1"/>
                </a:solidFill>
                <a:latin typeface="Cambria Math" panose="02040503050406030204" pitchFamily="18" charset="0"/>
                <a:ea typeface="Cambria Math" panose="02040503050406030204" pitchFamily="18" charset="0"/>
              </a:rPr>
              <a:t>Node </a:t>
            </a:r>
            <a:r>
              <a:rPr lang="en-US" dirty="0" err="1">
                <a:solidFill>
                  <a:schemeClr val="bg1"/>
                </a:solidFill>
                <a:latin typeface="Cambria Math" panose="02040503050406030204" pitchFamily="18" charset="0"/>
                <a:ea typeface="Cambria Math" panose="02040503050406030204" pitchFamily="18" charset="0"/>
              </a:rPr>
              <a:t>Js</a:t>
            </a:r>
            <a:r>
              <a:rPr lang="en-US" dirty="0">
                <a:solidFill>
                  <a:schemeClr val="bg1"/>
                </a:solidFill>
                <a:latin typeface="Cambria Math" panose="02040503050406030204" pitchFamily="18" charset="0"/>
                <a:ea typeface="Cambria Math" panose="02040503050406030204" pitchFamily="18" charset="0"/>
              </a:rPr>
              <a:t>, Express </a:t>
            </a:r>
            <a:r>
              <a:rPr lang="en-US" dirty="0" err="1">
                <a:solidFill>
                  <a:schemeClr val="bg1"/>
                </a:solidFill>
                <a:latin typeface="Cambria Math" panose="02040503050406030204" pitchFamily="18" charset="0"/>
                <a:ea typeface="Cambria Math" panose="02040503050406030204" pitchFamily="18" charset="0"/>
              </a:rPr>
              <a:t>Js</a:t>
            </a:r>
            <a:r>
              <a:rPr lang="en-US" dirty="0">
                <a:solidFill>
                  <a:schemeClr val="bg1"/>
                </a:solidFill>
                <a:latin typeface="Cambria Math" panose="02040503050406030204" pitchFamily="18" charset="0"/>
                <a:ea typeface="Cambria Math" panose="02040503050406030204" pitchFamily="18" charset="0"/>
              </a:rPr>
              <a:t>, MongoDB</a:t>
            </a:r>
            <a:endParaRPr lang="en-US" b="0" i="0" dirty="0">
              <a:solidFill>
                <a:schemeClr val="bg1"/>
              </a:solidFill>
              <a:effectLst/>
              <a:latin typeface="Cambria Math" panose="02040503050406030204" pitchFamily="18" charset="0"/>
              <a:ea typeface="Cambria Math" panose="02040503050406030204" pitchFamily="18" charset="0"/>
            </a:endParaRPr>
          </a:p>
          <a:p>
            <a:pPr algn="l">
              <a:buFont typeface="Arial" panose="020B0604020202020204" pitchFamily="34" charset="0"/>
              <a:buChar char="•"/>
            </a:pPr>
            <a:r>
              <a:rPr lang="en-US" b="1" i="0" dirty="0">
                <a:solidFill>
                  <a:schemeClr val="bg1"/>
                </a:solidFill>
                <a:effectLst/>
                <a:latin typeface="Cambria Math" panose="02040503050406030204" pitchFamily="18" charset="0"/>
                <a:ea typeface="Cambria Math" panose="02040503050406030204" pitchFamily="18" charset="0"/>
              </a:rPr>
              <a:t>Implemented Features</a:t>
            </a:r>
            <a:r>
              <a:rPr lang="en-US" b="0" i="0" dirty="0">
                <a:solidFill>
                  <a:schemeClr val="bg1"/>
                </a:solidFill>
                <a:effectLst/>
                <a:latin typeface="Cambria Math" panose="02040503050406030204" pitchFamily="18" charset="0"/>
                <a:ea typeface="Cambria Math" panose="02040503050406030204" pitchFamily="18" charset="0"/>
              </a:rPr>
              <a:t>:</a:t>
            </a:r>
          </a:p>
          <a:p>
            <a:pPr marL="742950" lvl="1" indent="-285750" algn="l">
              <a:buFont typeface="Arial" panose="020B0604020202020204" pitchFamily="34" charset="0"/>
              <a:buChar char="•"/>
            </a:pPr>
            <a:r>
              <a:rPr lang="en-US" i="0" dirty="0">
                <a:solidFill>
                  <a:schemeClr val="bg1"/>
                </a:solidFill>
                <a:effectLst/>
                <a:latin typeface="Cambria Math" panose="02040503050406030204" pitchFamily="18" charset="0"/>
                <a:ea typeface="Cambria Math" panose="02040503050406030204" pitchFamily="18" charset="0"/>
              </a:rPr>
              <a:t>Login and Authentication</a:t>
            </a:r>
          </a:p>
          <a:p>
            <a:pPr marL="742950" lvl="1" indent="-285750" algn="l">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rPr>
              <a:t>Project Submission and editing</a:t>
            </a:r>
            <a:endParaRPr lang="en-US" i="0" dirty="0">
              <a:solidFill>
                <a:schemeClr val="bg1"/>
              </a:solidFill>
              <a:effectLst/>
              <a:latin typeface="Cambria Math" panose="02040503050406030204" pitchFamily="18" charset="0"/>
              <a:ea typeface="Cambria Math" panose="02040503050406030204" pitchFamily="18" charset="0"/>
            </a:endParaRPr>
          </a:p>
          <a:p>
            <a:pPr marL="742950" lvl="1" indent="-285750" algn="l">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rPr>
              <a:t>Profile </a:t>
            </a:r>
          </a:p>
          <a:p>
            <a:pPr marL="742950" lvl="1" indent="-285750" algn="l">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rPr>
              <a:t>Team creation</a:t>
            </a:r>
          </a:p>
          <a:p>
            <a:pPr marL="742950" lvl="1" indent="-285750" algn="l">
              <a:buFont typeface="Arial" panose="020B0604020202020204" pitchFamily="34" charset="0"/>
              <a:buChar char="•"/>
            </a:pPr>
            <a:r>
              <a:rPr lang="en-US" dirty="0">
                <a:solidFill>
                  <a:schemeClr val="bg1"/>
                </a:solidFill>
                <a:latin typeface="Cambria Math" panose="02040503050406030204" pitchFamily="18" charset="0"/>
                <a:ea typeface="Cambria Math" panose="02040503050406030204" pitchFamily="18" charset="0"/>
              </a:rPr>
              <a:t>Project hub</a:t>
            </a:r>
          </a:p>
          <a:p>
            <a:pPr lvl="1" algn="l"/>
            <a:endParaRPr lang="en-US" sz="2000" b="1" i="0" dirty="0">
              <a:solidFill>
                <a:schemeClr val="bg1"/>
              </a:solidFill>
              <a:effectLst/>
              <a:latin typeface="Cambria Math" panose="02040503050406030204" pitchFamily="18" charset="0"/>
              <a:ea typeface="Cambria Math" panose="02040503050406030204" pitchFamily="18" charset="0"/>
            </a:endParaRPr>
          </a:p>
          <a:p>
            <a:pPr marL="0" indent="0" algn="ctr">
              <a:lnSpc>
                <a:spcPct val="100000"/>
              </a:lnSpc>
              <a:spcBef>
                <a:spcPts val="0"/>
              </a:spcBef>
              <a:buFontTx/>
              <a:buNone/>
            </a:pPr>
            <a:endParaRPr lang="en-IN" sz="1800" dirty="0">
              <a:solidFill>
                <a:schemeClr val="bg1"/>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4125917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13663CA-BA5A-41E7-1FBE-D38846DFEF75}"/>
              </a:ext>
            </a:extLst>
          </p:cNvPr>
          <p:cNvSpPr>
            <a:spLocks noGrp="1"/>
          </p:cNvSpPr>
          <p:nvPr>
            <p:ph type="title"/>
          </p:nvPr>
        </p:nvSpPr>
        <p:spPr>
          <a:xfrm>
            <a:off x="5360484" y="2151791"/>
            <a:ext cx="6590761" cy="2923190"/>
          </a:xfrm>
        </p:spPr>
        <p:txBody>
          <a:bodyPr/>
          <a:lstStyle/>
          <a:p>
            <a:r>
              <a:rPr kumimoji="0" lang="en-US" altLang="en-US" sz="2000" b="0" i="0" u="none" strike="noStrike" cap="none" normalizeH="0" baseline="0" dirty="0">
                <a:ln>
                  <a:noFill/>
                </a:ln>
                <a:effectLst/>
                <a:latin typeface="Cambria Math" panose="02040503050406030204" pitchFamily="18" charset="0"/>
                <a:ea typeface="Cambria Math" panose="02040503050406030204" pitchFamily="18" charset="0"/>
              </a:rPr>
              <a:t>The </a:t>
            </a:r>
            <a:r>
              <a:rPr lang="en-US" sz="2000" dirty="0" err="1">
                <a:latin typeface="Cambria Math" panose="02040503050406030204" pitchFamily="18" charset="0"/>
                <a:ea typeface="Cambria Math" panose="02040503050406030204" pitchFamily="18" charset="0"/>
              </a:rPr>
              <a:t>ThesisIT</a:t>
            </a:r>
            <a:r>
              <a:rPr lang="en-US" sz="2000" dirty="0">
                <a:latin typeface="Cambria Math" panose="02040503050406030204" pitchFamily="18" charset="0"/>
                <a:ea typeface="Cambria Math" panose="02040503050406030204" pitchFamily="18" charset="0"/>
              </a:rPr>
              <a:t>: Web-Based Thesis Storage Vault</a:t>
            </a:r>
            <a:r>
              <a:rPr kumimoji="0" lang="en-US" altLang="en-US" sz="2000" b="0" i="0" u="none" strike="noStrike" cap="none" normalizeH="0" baseline="0" dirty="0">
                <a:ln>
                  <a:noFill/>
                </a:ln>
                <a:effectLst/>
                <a:latin typeface="Cambria Math" panose="02040503050406030204" pitchFamily="18" charset="0"/>
                <a:ea typeface="Cambria Math" panose="02040503050406030204" pitchFamily="18" charset="0"/>
              </a:rPr>
              <a:t> addresses the challenges of managing final year projects by offering a centralized, secure platform for submission, storage, and evaluation. </a:t>
            </a:r>
            <a:r>
              <a:rPr lang="en-US" sz="2000" dirty="0" err="1">
                <a:latin typeface="Cambria Math" panose="02040503050406030204" pitchFamily="18" charset="0"/>
                <a:ea typeface="Cambria Math" panose="02040503050406030204" pitchFamily="18" charset="0"/>
              </a:rPr>
              <a:t>ThesisIT</a:t>
            </a:r>
            <a:r>
              <a:rPr kumimoji="0" lang="en-US" altLang="en-US" sz="2000" b="0" i="0" u="none" strike="noStrike" cap="none" normalizeH="0" baseline="0" dirty="0">
                <a:ln>
                  <a:noFill/>
                </a:ln>
                <a:effectLst/>
                <a:latin typeface="Cambria Math" panose="02040503050406030204" pitchFamily="18" charset="0"/>
                <a:ea typeface="Cambria Math" panose="02040503050406030204" pitchFamily="18" charset="0"/>
              </a:rPr>
              <a:t> minimizes inefficiencies and data loss, promotes collaboration and knowledge sharing, and simplifies faculty workload. It enhances academic management and fosters innovation, providing a future-ready solution for educational project management.</a:t>
            </a:r>
            <a:br>
              <a:rPr kumimoji="0" lang="en-US" altLang="en-US" sz="2000" b="0" i="0" u="none" strike="noStrike" cap="none" normalizeH="0" baseline="0" dirty="0">
                <a:ln>
                  <a:noFill/>
                </a:ln>
                <a:effectLst/>
                <a:latin typeface="Cambria Math" panose="02040503050406030204" pitchFamily="18" charset="0"/>
                <a:ea typeface="Cambria Math" panose="02040503050406030204" pitchFamily="18" charset="0"/>
              </a:rPr>
            </a:br>
            <a:endParaRPr lang="en-US" sz="2000" dirty="0"/>
          </a:p>
        </p:txBody>
      </p:sp>
      <p:sp>
        <p:nvSpPr>
          <p:cNvPr id="4" name="Footer Placeholder 3">
            <a:extLst>
              <a:ext uri="{FF2B5EF4-FFF2-40B4-BE49-F238E27FC236}">
                <a16:creationId xmlns:a16="http://schemas.microsoft.com/office/drawing/2014/main" id="{03A6B6FB-DEBA-00AA-0812-B47A64FF054A}"/>
              </a:ext>
            </a:extLst>
          </p:cNvPr>
          <p:cNvSpPr>
            <a:spLocks noGrp="1"/>
          </p:cNvSpPr>
          <p:nvPr>
            <p:ph type="ftr" sz="quarter" idx="30"/>
          </p:nvPr>
        </p:nvSpPr>
        <p:spPr/>
        <p:txBody>
          <a:bodyPr/>
          <a:lstStyle/>
          <a:p>
            <a:r>
              <a:rPr lang="en-US" dirty="0" err="1"/>
              <a:t>ThesisIT</a:t>
            </a:r>
            <a:endParaRPr lang="en-US" dirty="0"/>
          </a:p>
        </p:txBody>
      </p:sp>
      <p:sp>
        <p:nvSpPr>
          <p:cNvPr id="8" name="Slide Number Placeholder 13">
            <a:extLst>
              <a:ext uri="{FF2B5EF4-FFF2-40B4-BE49-F238E27FC236}">
                <a16:creationId xmlns:a16="http://schemas.microsoft.com/office/drawing/2014/main" id="{7B1FF929-CED0-79CA-154D-98463CC4A60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altLang="zh-CN" sz="1200" u="none" strike="noStrike" kern="1200" cap="none" spc="0" normalizeH="0" baseline="0" dirty="0">
              <a:ln>
                <a:noFill/>
              </a:ln>
              <a:solidFill>
                <a:schemeClr val="bg1"/>
              </a:solidFill>
              <a:effectLst/>
              <a:uLnTx/>
              <a:uFillTx/>
            </a:endParaRPr>
          </a:p>
        </p:txBody>
      </p:sp>
      <p:sp>
        <p:nvSpPr>
          <p:cNvPr id="5" name="TextBox 4">
            <a:extLst>
              <a:ext uri="{FF2B5EF4-FFF2-40B4-BE49-F238E27FC236}">
                <a16:creationId xmlns:a16="http://schemas.microsoft.com/office/drawing/2014/main" id="{92F8229C-4906-6AAC-3932-0772E6CE27F3}"/>
              </a:ext>
            </a:extLst>
          </p:cNvPr>
          <p:cNvSpPr txBox="1"/>
          <p:nvPr/>
        </p:nvSpPr>
        <p:spPr>
          <a:xfrm>
            <a:off x="5892800" y="1229360"/>
            <a:ext cx="4866640" cy="584775"/>
          </a:xfrm>
          <a:prstGeom prst="rect">
            <a:avLst/>
          </a:prstGeom>
        </p:spPr>
        <p:txBody>
          <a:bodyPr wrap="square" rtlCol="0">
            <a:spAutoFit/>
          </a:bodyPr>
          <a:lstStyle/>
          <a:p>
            <a:pPr marL="0" indent="0" algn="ctr">
              <a:lnSpc>
                <a:spcPct val="100000"/>
              </a:lnSpc>
              <a:spcBef>
                <a:spcPts val="0"/>
              </a:spcBef>
              <a:buFontTx/>
              <a:buNone/>
            </a:pPr>
            <a:r>
              <a:rPr lang="en-US" sz="3200" b="1" dirty="0">
                <a:solidFill>
                  <a:prstClr val="white"/>
                </a:solidFill>
                <a:latin typeface="Posterama Text Black (Headings)"/>
                <a:ea typeface="微软雅黑"/>
                <a:cs typeface="Posterama" panose="020B0504020200020000" pitchFamily="34" charset="0"/>
              </a:rPr>
              <a:t>Conclusion</a:t>
            </a:r>
            <a:endParaRPr lang="en-IN" sz="3200" b="1" dirty="0">
              <a:solidFill>
                <a:prstClr val="white"/>
              </a:solidFill>
              <a:latin typeface="Posterama Text Black (Headings)"/>
              <a:ea typeface="微软雅黑"/>
              <a:cs typeface="Posterama" panose="020B0504020200020000" pitchFamily="34" charset="0"/>
            </a:endParaRPr>
          </a:p>
        </p:txBody>
      </p:sp>
    </p:spTree>
    <p:extLst>
      <p:ext uri="{BB962C8B-B14F-4D97-AF65-F5344CB8AC3E}">
        <p14:creationId xmlns:p14="http://schemas.microsoft.com/office/powerpoint/2010/main" val="32955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p:txBody>
          <a:bodyPr/>
          <a:lstStyle/>
          <a:p>
            <a:r>
              <a:rPr lang="en-US" dirty="0"/>
              <a:t>Thank you</a:t>
            </a:r>
          </a:p>
        </p:txBody>
      </p:sp>
      <p:pic>
        <p:nvPicPr>
          <p:cNvPr id="14" name="Picture Placeholder 13" descr="People working in office">
            <a:extLst>
              <a:ext uri="{FF2B5EF4-FFF2-40B4-BE49-F238E27FC236}">
                <a16:creationId xmlns:a16="http://schemas.microsoft.com/office/drawing/2014/main" id="{496155F4-61B2-441D-9F16-788866450DA2}"/>
              </a:ext>
            </a:extLst>
          </p:cNvPr>
          <p:cNvPicPr>
            <a:picLocks noGrp="1" noChangeAspect="1"/>
          </p:cNvPicPr>
          <p:nvPr>
            <p:ph type="pic" sz="quarter" idx="49"/>
          </p:nvPr>
        </p:nvPicPr>
        <p:blipFill rotWithShape="1">
          <a:blip r:embed="rId3" cstate="print">
            <a:extLst>
              <a:ext uri="{28A0092B-C50C-407E-A947-70E740481C1C}">
                <a14:useLocalDpi xmlns:a14="http://schemas.microsoft.com/office/drawing/2010/main"/>
              </a:ext>
            </a:extLst>
          </a:blip>
          <a:srcRect/>
          <a:stretch/>
        </p:blipFill>
        <p:spPr/>
      </p:pic>
      <p:pic>
        <p:nvPicPr>
          <p:cNvPr id="16" name="Picture Placeholder 15" descr="People in an office discussing work over a laptop&#10;">
            <a:extLst>
              <a:ext uri="{FF2B5EF4-FFF2-40B4-BE49-F238E27FC236}">
                <a16:creationId xmlns:a16="http://schemas.microsoft.com/office/drawing/2014/main" id="{BCD5762E-DD49-42B3-9CA8-46A4AD7193E2}"/>
              </a:ext>
            </a:extLst>
          </p:cNvPr>
          <p:cNvPicPr>
            <a:picLocks noGrp="1" noChangeAspect="1"/>
          </p:cNvPicPr>
          <p:nvPr>
            <p:ph type="pic" sz="quarter" idx="48"/>
          </p:nvPr>
        </p:nvPicPr>
        <p:blipFill rotWithShape="1">
          <a:blip r:embed="rId4" cstate="print">
            <a:extLst>
              <a:ext uri="{28A0092B-C50C-407E-A947-70E740481C1C}">
                <a14:useLocalDpi xmlns:a14="http://schemas.microsoft.com/office/drawing/2010/main"/>
              </a:ext>
            </a:extLst>
          </a:blip>
          <a:srcRect/>
          <a:stretch/>
        </p:blipFill>
        <p:spPr/>
      </p:pic>
      <p:pic>
        <p:nvPicPr>
          <p:cNvPr id="18" name="Picture Placeholder 17" descr="Layout of website design sketches on white paper">
            <a:extLst>
              <a:ext uri="{FF2B5EF4-FFF2-40B4-BE49-F238E27FC236}">
                <a16:creationId xmlns:a16="http://schemas.microsoft.com/office/drawing/2014/main" id="{1051CD21-1408-4D13-BF0B-0D7013AD2D0C}"/>
              </a:ext>
            </a:extLst>
          </p:cNvPr>
          <p:cNvPicPr>
            <a:picLocks noGrp="1" noChangeAspect="1"/>
          </p:cNvPicPr>
          <p:nvPr>
            <p:ph type="pic" sz="quarter" idx="51"/>
          </p:nvPr>
        </p:nvPicPr>
        <p:blipFill rotWithShape="1">
          <a:blip r:embed="rId5" cstate="print">
            <a:extLst>
              <a:ext uri="{28A0092B-C50C-407E-A947-70E740481C1C}">
                <a14:useLocalDpi xmlns:a14="http://schemas.microsoft.com/office/drawing/2010/main"/>
              </a:ext>
            </a:extLst>
          </a:blip>
          <a:srcRect/>
          <a:stretch/>
        </p:blipFill>
        <p:spPr/>
      </p:pic>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9787029" y="4214566"/>
            <a:ext cx="3034145" cy="1879791"/>
          </a:xfrm>
        </p:spPr>
        <p:txBody>
          <a:bodyPr/>
          <a:lstStyle/>
          <a:p>
            <a:r>
              <a:rPr lang="en-US" sz="2400" b="1" dirty="0">
                <a:latin typeface="Cambria Math" panose="02040503050406030204" pitchFamily="18" charset="0"/>
                <a:ea typeface="Cambria Math" panose="02040503050406030204" pitchFamily="18" charset="0"/>
              </a:rPr>
              <a:t>Team Members:</a:t>
            </a:r>
          </a:p>
          <a:p>
            <a:pPr marL="342900" indent="-342900">
              <a:buFont typeface="+mj-lt"/>
              <a:buAutoNum type="arabicParenR"/>
            </a:pPr>
            <a:r>
              <a:rPr lang="en-US" dirty="0"/>
              <a:t>Payal Jadhav</a:t>
            </a:r>
          </a:p>
          <a:p>
            <a:pPr marL="342900" indent="-342900">
              <a:buFont typeface="+mj-lt"/>
              <a:buAutoNum type="arabicParenR"/>
            </a:pPr>
            <a:r>
              <a:rPr lang="en-US" dirty="0"/>
              <a:t>Pranav Gore </a:t>
            </a:r>
          </a:p>
          <a:p>
            <a:pPr marL="342900" indent="-342900">
              <a:buFont typeface="+mj-lt"/>
              <a:buAutoNum type="arabicParenR"/>
            </a:pPr>
            <a:r>
              <a:rPr lang="en-US" dirty="0" err="1"/>
              <a:t>Rutuja</a:t>
            </a:r>
            <a:r>
              <a:rPr lang="en-US" dirty="0"/>
              <a:t> </a:t>
            </a:r>
            <a:r>
              <a:rPr lang="en-US" dirty="0" err="1"/>
              <a:t>Narad</a:t>
            </a:r>
            <a:endParaRPr lang="en-US" dirty="0"/>
          </a:p>
          <a:p>
            <a:pPr marL="342900" indent="-342900">
              <a:buFont typeface="+mj-lt"/>
              <a:buAutoNum type="arabicParenR"/>
            </a:pPr>
            <a:r>
              <a:rPr lang="en-US" dirty="0"/>
              <a:t>Shruti Morey</a:t>
            </a:r>
          </a:p>
          <a:p>
            <a:pPr marL="342900" indent="-342900">
              <a:buFont typeface="+mj-lt"/>
              <a:buAutoNum type="arabicParenR"/>
            </a:pPr>
            <a:r>
              <a:rPr lang="en-US" dirty="0"/>
              <a:t>Shruti Mishra</a:t>
            </a:r>
          </a:p>
        </p:txBody>
      </p:sp>
      <p:pic>
        <p:nvPicPr>
          <p:cNvPr id="28" name="Picture Placeholder 27" descr="Businesswoman reviewing sticky notes on a wall">
            <a:extLst>
              <a:ext uri="{FF2B5EF4-FFF2-40B4-BE49-F238E27FC236}">
                <a16:creationId xmlns:a16="http://schemas.microsoft.com/office/drawing/2014/main" id="{B746A775-E65C-70F6-9DB4-E51F7F2DAECE}"/>
              </a:ext>
            </a:extLst>
          </p:cNvPr>
          <p:cNvPicPr>
            <a:picLocks noGrp="1" noChangeAspect="1"/>
          </p:cNvPicPr>
          <p:nvPr>
            <p:ph type="pic" sz="quarter" idx="50"/>
          </p:nvPr>
        </p:nvPicPr>
        <p:blipFill>
          <a:blip r:embed="rId6" cstate="print">
            <a:extLst>
              <a:ext uri="{28A0092B-C50C-407E-A947-70E740481C1C}">
                <a14:useLocalDpi xmlns:a14="http://schemas.microsoft.com/office/drawing/2010/main"/>
              </a:ext>
            </a:extLst>
          </a:blip>
          <a:srcRect/>
          <a:stretch>
            <a:fillRect/>
          </a:stretch>
        </p:blipFill>
        <p:spPr/>
      </p:pic>
      <p:sp>
        <p:nvSpPr>
          <p:cNvPr id="3" name="TextBox 2">
            <a:extLst>
              <a:ext uri="{FF2B5EF4-FFF2-40B4-BE49-F238E27FC236}">
                <a16:creationId xmlns:a16="http://schemas.microsoft.com/office/drawing/2014/main" id="{FEBA3136-59AF-E5C9-DA27-8FF629829501}"/>
              </a:ext>
            </a:extLst>
          </p:cNvPr>
          <p:cNvSpPr txBox="1"/>
          <p:nvPr/>
        </p:nvSpPr>
        <p:spPr>
          <a:xfrm>
            <a:off x="6213450" y="3198167"/>
            <a:ext cx="2566757" cy="461665"/>
          </a:xfrm>
          <a:prstGeom prst="rect">
            <a:avLst/>
          </a:prstGeom>
          <a:noFill/>
        </p:spPr>
        <p:txBody>
          <a:bodyPr wrap="square">
            <a:spAutoFit/>
          </a:bodyPr>
          <a:lstStyle/>
          <a:p>
            <a:r>
              <a:rPr lang="en-US" sz="2400" b="1" dirty="0">
                <a:solidFill>
                  <a:schemeClr val="bg1"/>
                </a:solidFill>
                <a:latin typeface="Cambria Math" panose="02040503050406030204" pitchFamily="18" charset="0"/>
                <a:ea typeface="Cambria Math" panose="02040503050406030204" pitchFamily="18" charset="0"/>
              </a:rPr>
              <a:t>__By </a:t>
            </a:r>
            <a:r>
              <a:rPr lang="en-US" sz="2400" b="1" dirty="0" err="1">
                <a:solidFill>
                  <a:schemeClr val="bg1"/>
                </a:solidFill>
                <a:latin typeface="Cambria Math" panose="02040503050406030204" pitchFamily="18" charset="0"/>
                <a:ea typeface="Cambria Math" panose="02040503050406030204" pitchFamily="18" charset="0"/>
              </a:rPr>
              <a:t>Creedorians</a:t>
            </a:r>
            <a:endParaRPr lang="en-US" sz="2400" b="1" dirty="0">
              <a:solidFill>
                <a:schemeClr val="bg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Dark Presentation_win32_v2" id="{93B44BEE-AA18-4720-B555-E5F46C5F93FC}" vid="{88E458CA-BB4B-4D24-B4FE-119ECB54A9B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3.xml><?xml version="1.0" encoding="utf-8"?>
<ds:datastoreItem xmlns:ds="http://schemas.openxmlformats.org/officeDocument/2006/customXml" ds:itemID="{DE77570E-71D6-4005-B631-1B00A1197B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920</Words>
  <Application>Microsoft Office PowerPoint</Application>
  <PresentationFormat>Widescreen</PresentationFormat>
  <Paragraphs>170</Paragraphs>
  <Slides>14</Slides>
  <Notes>9</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14</vt:i4>
      </vt:variant>
    </vt:vector>
  </HeadingPairs>
  <TitlesOfParts>
    <vt:vector size="28" baseType="lpstr">
      <vt:lpstr>等线</vt:lpstr>
      <vt:lpstr>Abadi</vt:lpstr>
      <vt:lpstr>Arial</vt:lpstr>
      <vt:lpstr>Calibri</vt:lpstr>
      <vt:lpstr>Cambria Math</vt:lpstr>
      <vt:lpstr>Cascadia Mono SemiBold</vt:lpstr>
      <vt:lpstr>Ginto</vt:lpstr>
      <vt:lpstr>Posterama</vt:lpstr>
      <vt:lpstr>Posterama Text Black</vt:lpstr>
      <vt:lpstr>Posterama Text Black (Headings)</vt:lpstr>
      <vt:lpstr>Posterama Text SemiBold</vt:lpstr>
      <vt:lpstr>Times New Roman</vt:lpstr>
      <vt:lpstr>Wingdings</vt:lpstr>
      <vt:lpstr>Custom</vt:lpstr>
      <vt:lpstr>ThesisIT: Web-Based Thesis Storage Vault</vt:lpstr>
      <vt:lpstr>Agenda</vt:lpstr>
      <vt:lpstr>                         Problem Statement </vt:lpstr>
      <vt:lpstr>Abstract</vt:lpstr>
      <vt:lpstr>Objectives</vt:lpstr>
      <vt:lpstr>Plan Of Action</vt:lpstr>
      <vt:lpstr>Software Requirements </vt:lpstr>
      <vt:lpstr>Literature Survey</vt:lpstr>
      <vt:lpstr>PowerPoint Presentation</vt:lpstr>
      <vt:lpstr>PowerPoint Presentation</vt:lpstr>
      <vt:lpstr>PowerPoint Presentation</vt:lpstr>
      <vt:lpstr>PowerPoint Presentation</vt:lpstr>
      <vt:lpstr>The ThesisIT: Web-Based Thesis Storage Vault addresses the challenges of managing final year projects by offering a centralized, secure platform for submission, storage, and evaluation. ThesisIT minimizes inefficiencies and data loss, promotes collaboration and knowledge sharing, and simplifies faculty workload. It enhances academic management and fosters innovation, providing a future-ready solution for educational project management.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2023-09-14T05:46:04Z</dcterms:created>
  <dcterms:modified xsi:type="dcterms:W3CDTF">2025-04-21T07:20:36Z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